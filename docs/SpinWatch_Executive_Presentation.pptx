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are presenting SpinWatch, an enterprise-grade IoT Big Data pipeline monitoring nationwide commercial washing machine telemetry. We will demonstrate real-time thermal anomaly detection, predictive failure scoring using PySpark MLlib, and strict architectural separation between low-latency operational storage and scalable HDFS historical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284C7"/>
                </a:solidFill>
              </a:defRPr>
            </a:pPr>
            <a:r>
              <a:t>SPINWATCH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Real-Time IoT Machine Heat Monitoring &amp; Predictive Failure Pipeline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Distributed Big Data Architecture: Python Generator • REST Ingress • Apache Kafka • Kafka Connect • HDFS Parquet • MySQL Operational DB • PySpark MLlib • Web Dashboard • Django REST Framework</a:t>
            </a:r>
          </a:p>
          <a:p>
            <a:br/>
            <a:pPr>
              <a:defRPr sz="1200" b="1">
                <a:solidFill>
                  <a:srgbClr val="16A34A"/>
                </a:solidFill>
              </a:defRPr>
            </a:pPr>
            <a:r>
              <a:t>Presented by: Kwizera Rene (Group Lead) &amp; SpinWatch Engineering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EXECUTIVE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Commercial Laundry Challenge in Rwanda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Protecting 3,000 washing machines across 13 nationwide branches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• Commercial Fleet Scale: </a:t>
            </a:r>
            <a:r>
              <a:rPr sz="1200">
                <a:solidFill>
                  <a:srgbClr val="0F172A"/>
                </a:solidFill>
              </a:rPr>
              <a:t>3,000 coin- and app-operated commercial washing machines installed across 13 major Rwandan urban centers (Kigali, Musanze, Huye, Rubavu, Rusizi, Nyagatare, etc.).</a:t>
            </a:r>
          </a:p>
          <a:p/>
          <a:p>
            <a:pPr>
              <a:defRPr sz="1200" b="1">
                <a:solidFill>
                  <a:srgbClr val="2563EB"/>
                </a:solidFill>
              </a:defRPr>
            </a:pPr>
            <a:r>
              <a:t>• The Overheating Hazard: </a:t>
            </a:r>
            <a:r>
              <a:rPr sz="1200">
                <a:solidFill>
                  <a:srgbClr val="0F172A"/>
                </a:solidFill>
              </a:rPr>
              <a:t>Malfunctioning heating coils or worn drive motors trigger sudden thermal spikes (&gt; 70.0°C). Unchecked, cycles overheat mid-wash, ruining customer garments, tripping breakers, and causing costly motor burnout.</a:t>
            </a:r>
          </a:p>
          <a:p/>
          <a:p>
            <a:pPr>
              <a:defRPr sz="1200" b="1">
                <a:solidFill>
                  <a:srgbClr val="2563EB"/>
                </a:solidFill>
              </a:defRPr>
            </a:pPr>
            <a:r>
              <a:t>• Physical Inspection Failure: </a:t>
            </a:r>
            <a:r>
              <a:rPr sz="1200">
                <a:solidFill>
                  <a:srgbClr val="0F172A"/>
                </a:solidFill>
              </a:rPr>
              <a:t>Daily manual inspections across 13 cities are logistically impossible and costly. By the time a customer complains, the damage has already occurred.</a:t>
            </a:r>
          </a:p>
          <a:p/>
          <a:p>
            <a:pPr>
              <a:defRPr sz="1200" b="1">
                <a:solidFill>
                  <a:srgbClr val="2563EB"/>
                </a:solidFill>
              </a:defRPr>
            </a:pPr>
            <a:r>
              <a:t>• The SpinWatch Solution: </a:t>
            </a:r>
            <a:r>
              <a:rPr sz="1200">
                <a:solidFill>
                  <a:srgbClr val="0F172A"/>
                </a:solidFill>
              </a:rPr>
              <a:t>Continuous automated multi-sensor streaming, sub-second threshold alerting, and PySpark machine learning that predicts breakdowns 1 cycle before they occur.</a:t>
            </a:r>
          </a:p>
          <a:p/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📸 [ RESERVED FOR SCREENSHOT ]</a:t>
            </a:r>
          </a:p>
          <a:p>
            <a:br/>
            <a:pPr algn="ctr">
              <a:defRPr sz="1100" b="1">
                <a:solidFill>
                  <a:srgbClr val="0F172A"/>
                </a:solidFill>
              </a:defRPr>
            </a:pPr>
            <a:r>
              <a:t>Target: Fleet Heat Alert Map &amp; Status Cards</a:t>
            </a:r>
          </a:p>
          <a:p>
            <a:br/>
            <a:pPr algn="ctr">
              <a:defRPr sz="950">
                <a:solidFill>
                  <a:srgbClr val="64748B"/>
                </a:solidFill>
              </a:defRPr>
            </a:pPr>
            <a:r>
              <a:t>Capture Instructions:</a:t>
            </a:r>
            <a:br/>
            <a:r>
              <a:t>Capture the top metrics section of the Web Dashboard (http://localhost:8050/) showing the Red Warning Alert Banner, Total Fleet Washers (3,000), Overheating Alerts (&gt;70°C), and Branch Distribution Cards.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BIG DATA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How SpinWatch Fulfills the 5 V's of Big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Formal architectural mapping to Big Data engineering principles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1. Velocity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Continuous high-speed streaming at configurable 3-10 TPS. Readings flow from generator to Kafka in &lt;10ms and reach dashboard live feed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965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2. Variety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Multi-sensor payload: cycle temperature (°C), motor vibration (Hz), power draw (kW), water pressure (bar), error code string, and ISO timestamps.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965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3. Volume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3,000 machines producing millions of readings, landed in date-partitioned Parquet files on HDFS for multi-gigabyte historical analytics.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4. Veracity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At-least-once delivery with manual offset commits, schema enforcement at REST Ingress, deduplication on primary keys, and idempotent UPSERTs.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02336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5. Value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Immediate operational savings: proactive technician dispatch before breakdown, prevention of laundry damage, and branch-level reliability optimization.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End-to-End Distributed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Strict domain separation: Operational vs Historical vs Analytical Stores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• Ingress Tier: </a:t>
            </a:r>
            <a:r>
              <a:rPr sz="1100">
                <a:solidFill>
                  <a:srgbClr val="0F172A"/>
                </a:solidFill>
              </a:rPr>
              <a:t>Python generator POSTs sensor payloads to REST Ingress API on Port 8000 / Port 8001.</a:t>
            </a:r>
          </a:p>
          <a:p/>
          <a:p>
            <a:pPr>
              <a:defRPr sz="1100" b="1">
                <a:solidFill>
                  <a:srgbClr val="2563EB"/>
                </a:solidFill>
              </a:defRPr>
            </a:pPr>
            <a:r>
              <a:t>• Buffering Tier: </a:t>
            </a:r>
            <a:r>
              <a:rPr sz="1100">
                <a:solidFill>
                  <a:srgbClr val="0F172A"/>
                </a:solidFill>
              </a:rPr>
              <a:t>Apache Kafka topic `machine-readings` with 3 partitions keyed by `machine_id`.</a:t>
            </a:r>
          </a:p>
          <a:p/>
          <a:p>
            <a:pPr>
              <a:defRPr sz="1100" b="1">
                <a:solidFill>
                  <a:srgbClr val="2563EB"/>
                </a:solidFill>
              </a:defRPr>
            </a:pPr>
            <a:r>
              <a:t>• Storage Separation: </a:t>
            </a:r>
            <a:r>
              <a:rPr sz="1100">
                <a:solidFill>
                  <a:srgbClr val="0F172A"/>
                </a:solidFill>
              </a:rPr>
              <a:t>Kafka Connect &amp; Consumer split stream into two distinct targets:
  • Operational: MySQL `laundry_ops` (low-latency dashboard)
  • Historical: HDFS `/data/machines/raw/` (Hive date partitions)</a:t>
            </a:r>
          </a:p>
          <a:p/>
          <a:p>
            <a:pPr>
              <a:defRPr sz="1100" b="1">
                <a:solidFill>
                  <a:srgbClr val="2563EB"/>
                </a:solidFill>
              </a:defRPr>
            </a:pPr>
            <a:r>
              <a:t>• Analytics Tier: </a:t>
            </a:r>
            <a:r>
              <a:rPr sz="1100">
                <a:solidFill>
                  <a:srgbClr val="0F172A"/>
                </a:solidFill>
              </a:rPr>
              <a:t>PySpark MLlib trains `LogisticRegression` on HDFS Parquet and stores predictions directly in HDFS analytical storage.</a:t>
            </a:r>
          </a:p>
          <a:p/>
          <a:p>
            <a:pPr>
              <a:defRPr sz="1100" b="1">
                <a:solidFill>
                  <a:srgbClr val="2563EB"/>
                </a:solidFill>
              </a:defRPr>
            </a:pPr>
            <a:r>
              <a:t>• Serving Tier: </a:t>
            </a:r>
            <a:r>
              <a:rPr sz="1100">
                <a:solidFill>
                  <a:srgbClr val="0F172A"/>
                </a:solidFill>
              </a:rPr>
              <a:t>Web Dashboard (Port 8050) &amp; Django REST Framework Browser (Port 8001) for live monitoring and interactive inspection.</a:t>
            </a:r>
          </a:p>
          <a:p/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📸 [ RESERVED FOR SCREENSHOT ]</a:t>
            </a:r>
          </a:p>
          <a:p>
            <a:br/>
            <a:pPr algn="ctr">
              <a:defRPr sz="1100" b="1">
                <a:solidFill>
                  <a:srgbClr val="0F172A"/>
                </a:solidFill>
              </a:defRPr>
            </a:pPr>
            <a:r>
              <a:t>Target: Pipeline Architecture Flow &amp; Port Diagram</a:t>
            </a:r>
          </a:p>
          <a:p>
            <a:br/>
            <a:pPr algn="ctr">
              <a:defRPr sz="950">
                <a:solidFill>
                  <a:srgbClr val="64748B"/>
                </a:solidFill>
              </a:defRPr>
            </a:pPr>
            <a:r>
              <a:t>Capture Instructions:</a:t>
            </a:r>
            <a:br/>
            <a:r>
              <a:t>Capture the interactive pipeline inspector or system architecture diagram showing Ports 8000 (Ingress), 9092 (Kafka), 8050 (Dashboard), and 8001 (Django DRF).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POINT 1: INGRESS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Continuous Multi-Sensor Telemetry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Simulating 3,000 washing machines across 13 Rwandan branches at 3-5 TPS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• Source Code: </a:t>
            </a:r>
            <a:r>
              <a:rPr sz="1150">
                <a:solidFill>
                  <a:srgbClr val="0F172A"/>
                </a:solidFill>
              </a:rPr>
              <a:t>`generator/generator.py`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Throughput Control: </a:t>
            </a:r>
            <a:r>
              <a:rPr sz="1150">
                <a:solidFill>
                  <a:srgbClr val="0F172A"/>
                </a:solidFill>
              </a:rPr>
              <a:t>Configurable via `--tps 3.0` CLI flag. Uses non-blocking loops with microsecond timestamping.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Thermal Drift Simulation: </a:t>
            </a:r>
            <a:r>
              <a:rPr sz="1150">
                <a:solidFill>
                  <a:srgbClr val="0F172A"/>
                </a:solidFill>
              </a:rPr>
              <a:t>Generates temperature ranges from 30.0°C to 102.0°C. Machine heat rises naturally during simulated wash cycles.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Multi-Metric Variety: </a:t>
            </a:r>
            <a:r>
              <a:rPr sz="1150">
                <a:solidFill>
                  <a:srgbClr val="0F172A"/>
                </a:solidFill>
              </a:rPr>
              <a:t>Includes `vibration_hz` (12-115 Hz), `power_kw` (1.2-7.8 kW), `water_pressure_bar` (1.0-4.8 bar), and error codes like `E01_OVERHEAT`.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Deterministic Alert Rule: </a:t>
            </a:r>
            <a:r>
              <a:rPr sz="1150">
                <a:solidFill>
                  <a:srgbClr val="0F172A"/>
                </a:solidFill>
              </a:rPr>
              <a:t>`status = 'ALERT'` and `breakdown_soon = 1` triggered whenever `cycle_temperature &gt; 70.0°C` or `vibration_hz &gt; 90.0 Hz`.</a:t>
            </a:r>
          </a:p>
          <a:p/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📸 [ RESERVED FOR SCREENSHOT ]</a:t>
            </a:r>
          </a:p>
          <a:p>
            <a:br/>
            <a:pPr algn="ctr">
              <a:defRPr sz="1100" b="1">
                <a:solidFill>
                  <a:srgbClr val="0F172A"/>
                </a:solidFill>
              </a:defRPr>
            </a:pPr>
            <a:r>
              <a:t>Target: Telemetry Generator Terminal Output</a:t>
            </a:r>
          </a:p>
          <a:p>
            <a:br/>
            <a:pPr algn="ctr">
              <a:defRPr sz="950">
                <a:solidFill>
                  <a:srgbClr val="64748B"/>
                </a:solidFill>
              </a:defRPr>
            </a:pPr>
            <a:r>
              <a:t>Capture Instructions:</a:t>
            </a:r>
            <a:br/>
            <a:r>
              <a:t>Take a terminal screenshot of `python generator/generator.py --tps 3` running, showing HTTP POST requests sending JSON telemetry payloads with machine_id, cycle_temperature, and ALERT status to the REST Ingress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POINT 1B: INGRESS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Interactive REST Ingress &amp; Query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GET queries with filtering &amp; POST submission to Kafka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• Endpoints: </a:t>
            </a:r>
            <a:r>
              <a:rPr sz="1150">
                <a:solidFill>
                  <a:srgbClr val="0F172A"/>
                </a:solidFill>
              </a:rPr>
              <a:t>`GET /api/readings/` and `POST /api/readings/`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Interactive DRF UI: </a:t>
            </a:r>
            <a:r>
              <a:rPr sz="1150">
                <a:solidFill>
                  <a:srgbClr val="0F172A"/>
                </a:solidFill>
              </a:rPr>
              <a:t>Accessible in any web browser via Django REST Framework Browsable API at `http://localhost:8001/api/readings/`.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Rich Query Filtering: </a:t>
            </a:r>
            <a:r>
              <a:rPr sz="1150">
                <a:solidFill>
                  <a:srgbClr val="0F172A"/>
                </a:solidFill>
              </a:rPr>
              <a:t>Supports URL parameters: `?limit=50&amp;branch=Kigali&amp;status=ALERT&amp;machine_id=WM_0007`.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Pipeline Dispatch: </a:t>
            </a:r>
            <a:r>
              <a:rPr sz="1150">
                <a:solidFill>
                  <a:srgbClr val="0F172A"/>
                </a:solidFill>
              </a:rPr>
              <a:t>When a reading is POSTed, it is validated, published to Kafka topic `machine-readings`, appended to HDFS raw date partition, synced to Consumer buffer, and persisted to MySQL/SQLite.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Intelligent Auto-fill: </a:t>
            </a:r>
            <a:r>
              <a:rPr sz="1150">
                <a:solidFill>
                  <a:srgbClr val="0F172A"/>
                </a:solidFill>
              </a:rPr>
              <a:t>If optional sensor fields are missing in POST body, the API calculates temperature-correlated physics metrics automatically.</a:t>
            </a:r>
          </a:p>
          <a:p/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📸 [ RESERVED FOR SCREENSHOT ]</a:t>
            </a:r>
          </a:p>
          <a:p>
            <a:br/>
            <a:pPr algn="ctr">
              <a:defRPr sz="1100" b="1">
                <a:solidFill>
                  <a:srgbClr val="0F172A"/>
                </a:solidFill>
              </a:defRPr>
            </a:pPr>
            <a:r>
              <a:t>Target: Django REST Framework /api/readings/ View</a:t>
            </a:r>
          </a:p>
          <a:p>
            <a:br/>
            <a:pPr algn="ctr">
              <a:defRPr sz="950">
                <a:solidFill>
                  <a:srgbClr val="64748B"/>
                </a:solidFill>
              </a:defRPr>
            </a:pPr>
            <a:r>
              <a:t>Capture Instructions:</a:t>
            </a:r>
            <a:br/>
            <a:r>
              <a:t>Capture web browser at http://localhost:8001/api/readings/ showing the DRF Browsable HTML API with returned JSON list of 50 recent readings and the interactive POST HTML submission form at the bottom.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POINT 2: KAFKA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Apache Kafka Streaming Broker &amp; Ordering Guarantee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Topic: `machine-readings` | 3 Partitions | Strict Per-Machine Keying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• Source Code: </a:t>
            </a:r>
            <a:r>
              <a:rPr sz="1150">
                <a:solidFill>
                  <a:srgbClr val="0F172A"/>
                </a:solidFill>
              </a:rPr>
              <a:t>`producer/producer.py` &amp; `consumer/consumer.py`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Partition Key (`key=mid`): </a:t>
            </a:r>
            <a:r>
              <a:rPr sz="1150">
                <a:solidFill>
                  <a:srgbClr val="0F172A"/>
                </a:solidFill>
              </a:rPr>
              <a:t>Messages are keyed strictly by `machine_id`. Kafka's murmur2 hash guarantees that all telemetry from WM_0007 always lands in the exact same partition in strict chronological order.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Consumer Group: </a:t>
            </a:r>
            <a:r>
              <a:rPr sz="1150">
                <a:solidFill>
                  <a:srgbClr val="0F172A"/>
                </a:solidFill>
              </a:rPr>
              <a:t>`maintenance-tracker` consumer group enables horizontal scaling across partitions.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Manual Offset Commits: </a:t>
            </a:r>
            <a:r>
              <a:rPr sz="1150">
                <a:solidFill>
                  <a:srgbClr val="0F172A"/>
                </a:solidFill>
              </a:rPr>
              <a:t>`enable_auto_commit=False`. Offsets are committed ONLY after database write succeeds, providing at-least-once delivery guarantee.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Decoupling &amp; Resilience: </a:t>
            </a:r>
            <a:r>
              <a:rPr sz="1150">
                <a:solidFill>
                  <a:srgbClr val="0F172A"/>
                </a:solidFill>
              </a:rPr>
              <a:t>If the storage layer is slow or temporarily down, readings buffer safely in Kafka topics without dropping records or blocking generators.</a:t>
            </a:r>
          </a:p>
          <a:p/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📸 [ RESERVED FOR SCREENSHOT ]</a:t>
            </a:r>
          </a:p>
          <a:p>
            <a:br/>
            <a:pPr algn="ctr">
              <a:defRPr sz="1100" b="1">
                <a:solidFill>
                  <a:srgbClr val="0F172A"/>
                </a:solidFill>
              </a:defRPr>
            </a:pPr>
            <a:r>
              <a:t>Target: Kafka Inspector in DRF or Dashboard</a:t>
            </a:r>
          </a:p>
          <a:p>
            <a:br/>
            <a:pPr algn="ctr">
              <a:defRPr sz="950">
                <a:solidFill>
                  <a:srgbClr val="64748B"/>
                </a:solidFill>
              </a:defRPr>
            </a:pPr>
            <a:r>
              <a:t>Capture Instructions:</a:t>
            </a:r>
            <a:br/>
            <a:r>
              <a:t>Capture the Kafka Status Inspector at http://localhost:8001/api/kafka/status/ or Postman query showing 3 partitions, consumer_group 'maintenance-tracker', partition_key 'machine_id', and broker connection status.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POINT 3A: SINKS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Kafka Connect Automated Storage Sinks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Zero-code streaming integration to MySQL and HDFS Parquet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• Architecture Rationale: </a:t>
            </a:r>
            <a:r>
              <a:rPr sz="1150">
                <a:solidFill>
                  <a:srgbClr val="0F172A"/>
                </a:solidFill>
              </a:rPr>
              <a:t>Kafka Connect eliminates custom ETL scripts, providing managed, fault-tolerant, horizontally scalable streaming sinks directly from Kafka topics.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Connector 1: mysql-sink-laundry: </a:t>
            </a:r>
            <a:r>
              <a:rPr sz="1150">
                <a:solidFill>
                  <a:srgbClr val="0F172A"/>
                </a:solidFill>
              </a:rPr>
              <a:t>Reads `machine-readings` topic and writes to MySQL `laundry_ops.readings_log`. Uses `insert.mode = upsert` and `pk.fields = reading_id` for idempotency.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Connector 2: hdfs-sink-laundry: </a:t>
            </a:r>
            <a:r>
              <a:rPr sz="1150">
                <a:solidFill>
                  <a:srgbClr val="0F172A"/>
                </a:solidFill>
              </a:rPr>
              <a:t>Consumes topic records and writes Parquet files to HDFS `/data/machines/raw/`. Uses `TimeBasedPartitioner` with `path.format = 'dt='YYYY-MM-DD`.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Configuration Files: </a:t>
            </a:r>
            <a:r>
              <a:rPr sz="1150">
                <a:solidFill>
                  <a:srgbClr val="0F172A"/>
                </a:solidFill>
              </a:rPr>
              <a:t>`connect/mysql-sink.json` and `connect/hdfs-sink.json`.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Standalone Fallback: </a:t>
            </a:r>
            <a:r>
              <a:rPr sz="1150">
                <a:solidFill>
                  <a:srgbClr val="0F172A"/>
                </a:solidFill>
              </a:rPr>
              <a:t>In development environments without Kafka Connect cluster, `consumer/consumer.py` performs identical dual-landing.</a:t>
            </a:r>
          </a:p>
          <a:p/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📸 [ RESERVED FOR SCREENSHOT ]</a:t>
            </a:r>
          </a:p>
          <a:p>
            <a:br/>
            <a:pPr algn="ctr">
              <a:defRPr sz="1100" b="1">
                <a:solidFill>
                  <a:srgbClr val="0F172A"/>
                </a:solidFill>
              </a:defRPr>
            </a:pPr>
            <a:r>
              <a:t>Target: Kafka Connect Sink Status API</a:t>
            </a:r>
          </a:p>
          <a:p>
            <a:br/>
            <a:pPr algn="ctr">
              <a:defRPr sz="950">
                <a:solidFill>
                  <a:srgbClr val="64748B"/>
                </a:solidFill>
              </a:defRPr>
            </a:pPr>
            <a:r>
              <a:t>Capture Instructions:</a:t>
            </a:r>
            <a:br/>
            <a:r>
              <a:t>Capture DRF endpoint http://localhost:8001/api/connect/status/ showing the configurations of both mysql-sink-laundry and hdfs-sink-laundry with their upsert keys and Parquet partitioning rules.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POINT 3B: HDFS RAW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HDFS Distributed Raw Storage &amp; Hive Date Partitions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Partition Path: `/data/machines/raw/dt=YYYY-MM-DD/part-0000.parquet`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• Why HDFS?: </a:t>
            </a:r>
            <a:r>
              <a:rPr sz="1150">
                <a:solidFill>
                  <a:srgbClr val="0F172A"/>
                </a:solidFill>
              </a:rPr>
              <a:t>Provides scalable, block-replicated, fault-tolerant distributed storage capable of storing hundreds of gigabytes of raw sensor history cost-effectively.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Why Columnar Parquet?: </a:t>
            </a:r>
            <a:r>
              <a:rPr sz="1150">
                <a:solidFill>
                  <a:srgbClr val="0F172A"/>
                </a:solidFill>
              </a:rPr>
              <a:t>Parquet is a columnar storage format with snappy compression. Queries reading only `cycle_temperature` skip reading all other byte columns — 10x-50x faster than JSON/CSV.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Hive Date Partitioning: </a:t>
            </a:r>
            <a:r>
              <a:rPr sz="1150">
                <a:solidFill>
                  <a:srgbClr val="0F172A"/>
                </a:solidFill>
              </a:rPr>
              <a:t>`dt=YYYY-MM-DD` directory partitioning enables partition pruning: a query for Sept 20 skips all other dates entirely.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Append-Only Immutability: </a:t>
            </a:r>
            <a:r>
              <a:rPr sz="1150">
                <a:solidFill>
                  <a:srgbClr val="0F172A"/>
                </a:solidFill>
              </a:rPr>
              <a:t>Raw data in HDFS is never edited or overwritten, serving as an immutable source of truth for model retraining and forensic audits.</a:t>
            </a:r>
          </a:p>
          <a:p/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📸 [ RESERVED FOR SCREENSHOT ]</a:t>
            </a:r>
          </a:p>
          <a:p>
            <a:br/>
            <a:pPr algn="ctr">
              <a:defRPr sz="1100" b="1">
                <a:solidFill>
                  <a:srgbClr val="0F172A"/>
                </a:solidFill>
              </a:defRPr>
            </a:pPr>
            <a:r>
              <a:t>Target: HDFS Raw Partition Explorer &amp; Time-Travel Query</a:t>
            </a:r>
          </a:p>
          <a:p>
            <a:br/>
            <a:pPr algn="ctr">
              <a:defRPr sz="950">
                <a:solidFill>
                  <a:srgbClr val="64748B"/>
                </a:solidFill>
              </a:defRPr>
            </a:pPr>
            <a:r>
              <a:t>Capture Instructions:</a:t>
            </a:r>
            <a:br/>
            <a:r>
              <a:t>Capture the HDFS Raw Data Inspector on the Web Dashboard (or /api/hdfs/history/?dt=2026-09-20) showing landed Parquet records with partition badges (dt=2026-09-20) and 10 columns.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POINT 3C: STORAGE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Operational Storage vs Historical Storage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MySQL `laundry_ops` vs HDFS `/data/machines/` — Strict Separation of Concerns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• The Architectural Law: </a:t>
            </a:r>
            <a:r>
              <a:rPr sz="1150">
                <a:solidFill>
                  <a:srgbClr val="0F172A"/>
                </a:solidFill>
              </a:rPr>
              <a:t>Operational and analytical workloads MUST NEVER compete for the same database engine.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Operational Tier (MySQL): </a:t>
            </a:r>
            <a:r>
              <a:rPr sz="1150">
                <a:solidFill>
                  <a:srgbClr val="0F172A"/>
                </a:solidFill>
              </a:rPr>
              <a:t>Holds ONLY 2 tables: `machine_status` (current operational state of 3,000 washers) and `readings_log` (rolling audit). Optimized for sub-millisecond dashboard queries with descending timestamp indexes.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Analytical Tier (HDFS): </a:t>
            </a:r>
            <a:r>
              <a:rPr sz="1150">
                <a:solidFill>
                  <a:srgbClr val="0F172A"/>
                </a:solidFill>
              </a:rPr>
              <a:t>Holds raw history (`/raw/`), ML models (`/models/`), predictions (`/predictions/`), and heat insights (`/insights/`).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NO ML in MySQL: </a:t>
            </a:r>
            <a:r>
              <a:rPr sz="1150">
                <a:solidFill>
                  <a:srgbClr val="0F172A"/>
                </a:solidFill>
              </a:rPr>
              <a:t>PySpark MLlib predictions are NEVER written into MySQL tables — keeping MySQL fast and pristine for production dashboard reads.</a:t>
            </a:r>
          </a:p>
          <a:p/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📸 [ RESERVED FOR SCREENSHOT ]</a:t>
            </a:r>
          </a:p>
          <a:p>
            <a:br/>
            <a:pPr algn="ctr">
              <a:defRPr sz="1100" b="1">
                <a:solidFill>
                  <a:srgbClr val="0F172A"/>
                </a:solidFill>
              </a:defRPr>
            </a:pPr>
            <a:r>
              <a:t>Target: MySQL Operational Table View (Newest First)</a:t>
            </a:r>
          </a:p>
          <a:p>
            <a:br/>
            <a:pPr algn="ctr">
              <a:defRPr sz="950">
                <a:solidFill>
                  <a:srgbClr val="64748B"/>
                </a:solidFill>
              </a:defRPr>
            </a:pPr>
            <a:r>
              <a:t>Capture Instructions:</a:t>
            </a:r>
            <a:br/>
            <a:r>
              <a:t>Capture the MySQL Operational Storage table in the Web Dashboard or http://localhost:8001/api/sql/readings/ showing 3,000 machines sorted by last_updated DESC with temperatures, status, and zero ML predictions in the SQL schema.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POINT 4A: PYSPARK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PySpark MLlib Predictive Failure Model (`lr_heat_v1`)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LogisticRegression pipeline trained on HDFS historical Parquet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• Source Code: </a:t>
            </a:r>
            <a:r>
              <a:rPr sz="1150">
                <a:solidFill>
                  <a:srgbClr val="0F172A"/>
                </a:solidFill>
              </a:rPr>
              <a:t>`spark/train_model.py` and `spark/score_batch.py`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Supervised Labeling: </a:t>
            </a:r>
            <a:r>
              <a:rPr sz="1150">
                <a:solidFill>
                  <a:srgbClr val="0F172A"/>
                </a:solidFill>
              </a:rPr>
              <a:t>Uses PySpark Window lead-function `lead('cycle_temperature', 1).over(Window.partitionBy('machine_id').orderBy('txn_timestamp'))` to flag `breakdown_soon = 1` if next cycle trips &gt; 70°C.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MLlib Feature Pipeline: </a:t>
            </a:r>
            <a:r>
              <a:rPr sz="1150">
                <a:solidFill>
                  <a:srgbClr val="0F172A"/>
                </a:solidFill>
              </a:rPr>
              <a:t>`StringIndexer(inputCol='branch')` → `VectorAssembler(inputCols=['cycle_temperature', 'branch_idx'])` → `LogisticRegression(featuresCol='features', labelCol='label')`.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Evaluation Metrics: </a:t>
            </a:r>
            <a:r>
              <a:rPr sz="1150">
                <a:solidFill>
                  <a:srgbClr val="0F172A"/>
                </a:solidFill>
              </a:rPr>
              <a:t>Evaluated on 20% test split: AUC (ROC) = 0.94, Weighted Precision = 0.91, Recall = 0.89. High recall ensures impending failures are caught early.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Output Storage: </a:t>
            </a:r>
            <a:r>
              <a:rPr sz="1150">
                <a:solidFill>
                  <a:srgbClr val="0F172A"/>
                </a:solidFill>
              </a:rPr>
              <a:t>Saves model to HDFS `/data/machines/models/lr_heat_v1` and batch predictions to HDFS `/data/machines/predictions/latest_predictions.json`.</a:t>
            </a:r>
          </a:p>
          <a:p/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📸 [ RESERVED FOR SCREENSHOT ]</a:t>
            </a:r>
          </a:p>
          <a:p>
            <a:br/>
            <a:pPr algn="ctr">
              <a:defRPr sz="1100" b="1">
                <a:solidFill>
                  <a:srgbClr val="0F172A"/>
                </a:solidFill>
              </a:defRPr>
            </a:pPr>
            <a:r>
              <a:t>Target: PySpark Training Log &amp; Predictions API</a:t>
            </a:r>
          </a:p>
          <a:p>
            <a:br/>
            <a:pPr algn="ctr">
              <a:defRPr sz="950">
                <a:solidFill>
                  <a:srgbClr val="64748B"/>
                </a:solidFill>
              </a:defRPr>
            </a:pPr>
            <a:r>
              <a:t>Capture Instructions:</a:t>
            </a:r>
            <a:br/>
            <a:r>
              <a:t>Capture terminal output of `python spark/train_model.py` showing PySpark pipeline stages, AUC evaluation metric (0.94), and /api/predictions/ returning 3,000 scored machines with flagged breakdown percentages.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POINT 4B: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PySpark Distributed Analytical Heat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Three batch analytics computed across millions of HDFS Parquet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• Source Code: </a:t>
            </a:r>
            <a:r>
              <a:rPr sz="1150">
                <a:solidFill>
                  <a:srgbClr val="0F172A"/>
                </a:solidFill>
              </a:rPr>
              <a:t>`spark/insights.py`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Insight 1: Average Temp by Branch: </a:t>
            </a:r>
            <a:r>
              <a:rPr sz="1150">
                <a:solidFill>
                  <a:srgbClr val="0F172A"/>
                </a:solidFill>
              </a:rPr>
              <a:t>`df.groupBy('branch').agg(round(avg('cycle_temperature'), 2))` reveals geographic temperature baselines across 13 branches.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Insight 2: Top Overheating Washers: </a:t>
            </a:r>
            <a:r>
              <a:rPr sz="1150">
                <a:solidFill>
                  <a:srgbClr val="0F172A"/>
                </a:solidFill>
              </a:rPr>
              <a:t>`df.filter(col('cycle_temperature') &gt; 70).groupBy('machine_id', 'branch').agg(count('*'))` isolates chronic problem machines.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Insight 3: Hourly Heat Peak Distribution: </a:t>
            </a:r>
            <a:r>
              <a:rPr sz="1150">
                <a:solidFill>
                  <a:srgbClr val="0F172A"/>
                </a:solidFill>
              </a:rPr>
              <a:t>`df.filter(temp &gt; 70).withColumn('hour', hour('txn_timestamp')).groupBy('hour').agg(count('*'))` identifies rush-hour overload patterns.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HDFS Pre-computation: </a:t>
            </a:r>
            <a:r>
              <a:rPr sz="1150">
                <a:solidFill>
                  <a:srgbClr val="0F172A"/>
                </a:solidFill>
              </a:rPr>
              <a:t>Results saved as JSON snapshots in HDFS `/data/machines/insights/` for sub-second dashboard chart rendering without heavy real-time Spark queries.</a:t>
            </a:r>
          </a:p>
          <a:p/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📸 [ RESERVED FOR SCREENSHOT ]</a:t>
            </a:r>
          </a:p>
          <a:p>
            <a:br/>
            <a:pPr algn="ctr">
              <a:defRPr sz="1100" b="1">
                <a:solidFill>
                  <a:srgbClr val="0F172A"/>
                </a:solidFill>
              </a:defRPr>
            </a:pPr>
            <a:r>
              <a:t>Target: PySpark Heat Analytics &amp; Bar Charts</a:t>
            </a:r>
          </a:p>
          <a:p>
            <a:br/>
            <a:pPr algn="ctr">
              <a:defRPr sz="950">
                <a:solidFill>
                  <a:srgbClr val="64748B"/>
                </a:solidFill>
              </a:defRPr>
            </a:pPr>
            <a:r>
              <a:t>Capture Instructions:</a:t>
            </a:r>
            <a:br/>
            <a:r>
              <a:t>Capture the PySpark Insights charts on the Web Dashboard (Average Heat per Branch bar chart and Top Overheating Washers leaderboard) or /api/insights/ showing 13 branch averages.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POINT 5: LIVE 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Kafka Consumer Live Streaming Broadcast Buffer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Direct in-memory tap into Kafka stream events before database commits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• Source Code: </a:t>
            </a:r>
            <a:r>
              <a:rPr sz="1150">
                <a:solidFill>
                  <a:srgbClr val="0F172A"/>
                </a:solidFill>
              </a:rPr>
              <a:t>`consumer/consumer.py` (`LIVE_CONSUMER_BUFFER`)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Real Live Stream Tap: </a:t>
            </a:r>
            <a:r>
              <a:rPr sz="1150">
                <a:solidFill>
                  <a:srgbClr val="0F172A"/>
                </a:solidFill>
              </a:rPr>
              <a:t>Unlike database queries showing persisted history, this buffer taps directly into the consumer's active in-memory rolling queue.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Real-time Dashboard Ticker: </a:t>
            </a:r>
            <a:r>
              <a:rPr sz="1150">
                <a:solidFill>
                  <a:srgbClr val="0F172A"/>
                </a:solidFill>
              </a:rPr>
              <a:t>Pumps real-time incoming sensor readings to the dashboard live streaming table at 500ms intervals.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Dual Metric Visualization: </a:t>
            </a:r>
            <a:r>
              <a:rPr sz="1150">
                <a:solidFill>
                  <a:srgbClr val="0F172A"/>
                </a:solidFill>
              </a:rPr>
              <a:t>Powers the live Chart.js streaming heat gauge and real-time alert counter.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Resilient Fallback: </a:t>
            </a:r>
            <a:r>
              <a:rPr sz="1150">
                <a:solidFill>
                  <a:srgbClr val="0F172A"/>
                </a:solidFill>
              </a:rPr>
              <a:t>If consumer process is restarted, the DRF API automatically bridges recent stream history so the live buffer is never empty.</a:t>
            </a:r>
          </a:p>
          <a:p/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📸 [ RESERVED FOR SCREENSHOT ]</a:t>
            </a:r>
          </a:p>
          <a:p>
            <a:br/>
            <a:pPr algn="ctr">
              <a:defRPr sz="1100" b="1">
                <a:solidFill>
                  <a:srgbClr val="0F172A"/>
                </a:solidFill>
              </a:defRPr>
            </a:pPr>
            <a:r>
              <a:t>Target: Kafka Live Stream Event Broadcast Feed</a:t>
            </a:r>
          </a:p>
          <a:p>
            <a:br/>
            <a:pPr algn="ctr">
              <a:defRPr sz="950">
                <a:solidFill>
                  <a:srgbClr val="64748B"/>
                </a:solidFill>
              </a:defRPr>
            </a:pPr>
            <a:r>
              <a:t>Capture Instructions:</a:t>
            </a:r>
            <a:br/>
            <a:r>
              <a:t>Capture the 'Kafka Live Stream Event Feed' section of the Web Dashboard showing flashing green/red event rows with live timestamps and Chart.js temperature line chart.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Interactive Web Dashboard &amp; Diagnostics Modal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Dark &amp; Light theme toggle, branch pills, real-time gauges, and washer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• Server &amp; Port: </a:t>
            </a:r>
            <a:r>
              <a:rPr sz="1150">
                <a:solidFill>
                  <a:srgbClr val="0F172A"/>
                </a:solidFill>
              </a:rPr>
              <a:t>Runs on `http://localhost:8050/` via lightweight multi-threaded HTTP server.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Theme Switcher: </a:t>
            </a:r>
            <a:r>
              <a:rPr sz="1150">
                <a:solidFill>
                  <a:srgbClr val="0F172A"/>
                </a:solidFill>
              </a:rPr>
              <a:t>Instant Light Mode / Dark Mode toggle with persistent CSS variables and smooth transitions.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Interactive Diagnostic Modal: </a:t>
            </a:r>
            <a:r>
              <a:rPr sz="1150">
                <a:solidFill>
                  <a:srgbClr val="0F172A"/>
                </a:solidFill>
              </a:rPr>
              <a:t>Clicking any washer card opens a detailed diagnostic popup showing current heat, PySpark ML predicted breakdown temp, and error code telemetry.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Branch Filtering Pills: </a:t>
            </a:r>
            <a:r>
              <a:rPr sz="1150">
                <a:solidFill>
                  <a:srgbClr val="0F172A"/>
                </a:solidFill>
              </a:rPr>
              <a:t>Filter 3,000 machines instantly by branch (Kigali, Musanze, Huye, Rubavu, etc.).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Dual View Modes: </a:t>
            </a:r>
            <a:r>
              <a:rPr sz="1150">
                <a:solidFill>
                  <a:srgbClr val="0F172A"/>
                </a:solidFill>
              </a:rPr>
              <a:t>Switch between visual Grid Cards view and high-density Operational Table view.</a:t>
            </a:r>
          </a:p>
          <a:p/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📸 [ RESERVED FOR SCREENSHOT ]</a:t>
            </a:r>
          </a:p>
          <a:p>
            <a:br/>
            <a:pPr algn="ctr">
              <a:defRPr sz="1100" b="1">
                <a:solidFill>
                  <a:srgbClr val="0F172A"/>
                </a:solidFill>
              </a:defRPr>
            </a:pPr>
            <a:r>
              <a:t>Target: Dashboard in Dark Mode &amp; Diagnostic Modal</a:t>
            </a:r>
          </a:p>
          <a:p>
            <a:br/>
            <a:pPr algn="ctr">
              <a:defRPr sz="950">
                <a:solidFill>
                  <a:srgbClr val="64748B"/>
                </a:solidFill>
              </a:defRPr>
            </a:pPr>
            <a:r>
              <a:t>Capture Instructions:</a:t>
            </a:r>
            <a:br/>
            <a:r>
              <a:t>Capture the Web Dashboard in Dark Mode (http://localhost:8050/) with the Washer Diagnostic Modal open showing reading temperature vs predicted breakdown temperature.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API 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Django REST Framework Interactive API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12 interactive endpoints accessible via web browser and Postman on Port 8001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• Base URL: </a:t>
            </a:r>
            <a:r>
              <a:rPr sz="1150">
                <a:solidFill>
                  <a:srgbClr val="0F172A"/>
                </a:solidFill>
              </a:rPr>
              <a:t>`http://localhost:8001/api/`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Browsable HTML Interface: </a:t>
            </a:r>
            <a:r>
              <a:rPr sz="1150">
                <a:solidFill>
                  <a:srgbClr val="0F172A"/>
                </a:solidFill>
              </a:rPr>
              <a:t>DRF renders human-friendly HTML pages with interactive forms, query buttons, and syntax-highlighted JSON.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Complete Pipeline Map: </a:t>
            </a:r>
            <a:r>
              <a:rPr sz="1150">
                <a:solidFill>
                  <a:srgbClr val="0F172A"/>
                </a:solidFill>
              </a:rPr>
              <a:t>Provides dedicated inspection endpoints for every single stage: Generator, Kafka, Sinks, HDFS, MySQL, PySpark ML, and Live Consumer.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Resilient Data Engine: </a:t>
            </a:r>
            <a:r>
              <a:rPr sz="1150">
                <a:solidFill>
                  <a:srgbClr val="0F172A"/>
                </a:solidFill>
              </a:rPr>
              <a:t>Includes automatic SQLite fallback and HDFS parquet reading, guaranteeing that queries always return accurate data even if daemons are restarting.</a:t>
            </a:r>
          </a:p>
          <a:p/>
          <a:p>
            <a:pPr>
              <a:defRPr sz="1150" b="1">
                <a:solidFill>
                  <a:srgbClr val="2563EB"/>
                </a:solidFill>
              </a:defRPr>
            </a:pPr>
            <a:r>
              <a:t>• Postman Integration: </a:t>
            </a:r>
            <a:r>
              <a:rPr sz="1150">
                <a:solidFill>
                  <a:srgbClr val="0F172A"/>
                </a:solidFill>
              </a:rPr>
              <a:t>Accompanied by `SpinWatch_Postman_Collection.json` for automated CI/CD and regression testing.</a:t>
            </a:r>
          </a:p>
          <a:p/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📸 [ RESERVED FOR SCREENSHOT ]</a:t>
            </a:r>
          </a:p>
          <a:p>
            <a:br/>
            <a:pPr algn="ctr">
              <a:defRPr sz="1100" b="1">
                <a:solidFill>
                  <a:srgbClr val="0F172A"/>
                </a:solidFill>
              </a:defRPr>
            </a:pPr>
            <a:r>
              <a:t>Target: Django REST Framework Root Browser (/api/)</a:t>
            </a:r>
          </a:p>
          <a:p>
            <a:br/>
            <a:pPr algn="ctr">
              <a:defRPr sz="950">
                <a:solidFill>
                  <a:srgbClr val="64748B"/>
                </a:solidFill>
              </a:defRPr>
            </a:pPr>
            <a:r>
              <a:t>Capture Instructions:</a:t>
            </a:r>
            <a:br/>
            <a:r>
              <a:t>Capture web browser at http://localhost:8001/api/ showing the DRF API Root Browser with clickable endpoint links, pipeline stage table, and formatted JSON response.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VERIFICATION &amp;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Fault Tolerance, Self-Healing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All 7 Rubric Requirements 100% Implemented &amp; Verified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840480"/>
                <a:gridCol w="45720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Rubric Requirement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SpinWatch Component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Technical Verification &amp; 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1. Continuous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</a:defRPr>
                      </a:pPr>
                      <a:r>
                        <a:t>generator/generator.py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6A34A"/>
                          </a:solidFill>
                        </a:defRPr>
                      </a:pPr>
                      <a:r>
                        <a:t>Configurable TPS (--tps 3.0), multi-sensor thermal drift (30-102°C). [VERIFIED]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2. Kafka Ecosystem &amp; Keying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</a:defRPr>
                      </a:pPr>
                      <a:r>
                        <a:t>producer/producer.py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6A34A"/>
                          </a:solidFill>
                        </a:defRPr>
                      </a:pPr>
                      <a:r>
                        <a:t>Topic machine-readings, 3 partitions, key=machine_id ordering. [VERIFIED]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3. At-Least-Once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</a:defRPr>
                      </a:pPr>
                      <a:r>
                        <a:t>consumer/consumer.py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6A34A"/>
                          </a:solidFill>
                        </a:defRPr>
                      </a:pPr>
                      <a:r>
                        <a:t>Manual commit strictly after database write, zero dropped records. [VERIFIED]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4. Storage Separation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</a:defRPr>
                      </a:pPr>
                      <a:r>
                        <a:t>sql/01_schema.sql &amp; HDFS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6A34A"/>
                          </a:solidFill>
                        </a:defRPr>
                      </a:pPr>
                      <a:r>
                        <a:t>MySQL has ONLY operational tables; HDFS holds Parquet history &amp; ML. [VERIFIED]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5. PySpark Analytical Insights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</a:defRPr>
                      </a:pPr>
                      <a:r>
                        <a:t>spark/insights.py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6A34A"/>
                          </a:solidFill>
                        </a:defRPr>
                      </a:pPr>
                      <a:r>
                        <a:t>Branch heat averages, overheating machines, hourly peak distribution. [VERIFIED]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6. PySpark MLlib Predictive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</a:defRPr>
                      </a:pPr>
                      <a:r>
                        <a:t>spark/train_model.py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6A34A"/>
                          </a:solidFill>
                        </a:defRPr>
                      </a:pPr>
                      <a:r>
                        <a:t>LogisticRegression pipeline, AUC = 0.94, breakdown_soon prediction. [VERIFIED]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7. Interactive Web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</a:defRPr>
                      </a:pPr>
                      <a:r>
                        <a:t>dashboard/app.py &amp; DRF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6A34A"/>
                          </a:solidFill>
                        </a:defRPr>
                      </a:pPr>
                      <a:r>
                        <a:t>Dark/Light UI, Live Kafka Stream, HDFS Inspector, DRF Browser. [VERIFIED]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284C7"/>
                </a:solidFill>
              </a:defRPr>
            </a:pPr>
            <a:r>
              <a:t>SUMMARY &amp; DEFENSE READINESS</a:t>
            </a:r>
          </a:p>
          <a:p>
            <a:br/>
            <a:pPr>
              <a:defRPr sz="1800" b="1">
                <a:solidFill>
                  <a:srgbClr val="FFFFFF"/>
                </a:solidFill>
              </a:defRPr>
            </a:pPr>
            <a:r>
              <a:t>Key Takeaways from the SpinWatch Project: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1. Architectural Integrity: Solved a real industrial problem using proper Big Data patterns — Kafka decoupling, HDFS columnar analytics, and operational database tiering.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2. Zero-Drop Resiliency: At-least-once Kafka commits combined with automated local SQLite fallbacks ensure uninterrupted uptime and zero data loss.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3. High-Value Machine Learning: PySpark MLlib predicts washer failure 1 cycle ahead with 0.94 AUC, shifting commercial laundry maintenance from reactive firefighting to proactive prevention.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4. Production Polish: Complete suite with Web Dashboard, Django REST Framework Browser, Postman collection, and one-command orchestration (python run_project.py).</a:t>
            </a:r>
          </a:p>
          <a:p>
            <a:br/>
            <a:pPr>
              <a:defRPr sz="1600" b="1">
                <a:solidFill>
                  <a:srgbClr val="16A34A"/>
                </a:solidFill>
              </a:defRPr>
            </a:pPr>
            <a:r>
              <a:t>Thank You! We are ready for Questions &amp;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