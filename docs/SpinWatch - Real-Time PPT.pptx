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25" r:id="rId1"/>
  </p:sldMasterIdLst>
  <p:sldIdLst>
    <p:sldId id="256" r:id="rId2"/>
    <p:sldId id="271" r:id="rId3"/>
    <p:sldId id="272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libri Light" panose="020F0302020204030204" pitchFamily="34" charset="0"/>
      <p:regular r:id="rId22"/>
      <p:italic r:id="rId23"/>
    </p:embeddedFont>
    <p:embeddedFont>
      <p:font typeface="Inter"/>
      <p:bold r:id="rId24"/>
    </p:embeddedFont>
    <p:embeddedFont>
      <p:font typeface="JetBrains Mono"/>
      <p:bold r:id="rId25"/>
    </p:embeddedFont>
    <p:embeddedFont>
      <p:font typeface="Plus Jakarta Sans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97248-4A0B-421F-B8AD-A624AC72D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6A570D-2283-4830-9290-9E6258BEFA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2E18B-1406-49EC-90CD-EAE807323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FBA55-6199-4F86-9678-6E6D64221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6CD0F-67B1-450F-8D0B-8A03AA74D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467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5E864-CE17-445A-83A7-3EDCE060B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843F3-7062-48B5-9C71-0D0847DB4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5FA5-89E0-4844-86E9-4773BE2CC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F7C6C-CF3E-429E-9703-CA8CDB9FD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9CE8D-C7E5-4895-A76B-0FA725AB7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767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26984-5D59-4DC3-A613-D2BFA5F75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34B19-CEC6-488E-BC28-E0E25F18F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A37A8-8DEA-42CD-89DE-305B74A9C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D4926-D480-4AC2-B27A-0E1747E5B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1AD52-6C1B-4635-87DF-F0DCBDDE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049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C91B7-C792-48AA-B53F-CB46E569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EB3CB-E456-4530-92D9-86407BC411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D55033-6F34-4928-86E6-B7278FD8A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686281-C218-4727-B842-DD3C10BF5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15053-5710-4D61-806F-2BAF1A177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217F93-485C-480C-BF78-EE86A8BF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941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8EDC0-5972-4C6C-AF94-41AE707C8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65BCF-A11A-4D81-9A47-0C03FC9CC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C5D1FC-EC64-4A33-9CB3-2BFF9C65F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D9DA0C-E10D-4AD0-9BC3-6B7724F219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A3C0DC-48E2-49DC-95CD-86239964E8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219A95-7D17-4EB3-B81B-BE312458A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F80294-BDA5-4C38-8828-AA12AB261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643A55-0F36-47F2-A27C-E9DE20AD5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09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6E4F2-3BDF-4D3D-8686-83A56C74F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ECB663-EC35-4AD8-BC32-BCA08D983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CB824F-0B4B-4F2E-8E7C-E958E0733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4E0208-1322-4DA8-B352-684002C82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19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165948-CE19-428D-9ED6-CF2B01533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D47647-85FB-499A-A14B-06E33A81B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4FD10-07FE-40FF-B348-EE2AB175A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654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6C5D9-4773-4905-9294-DE88C2806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3B1CF-E411-4A8D-8882-5E5C44043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A348F-5BA3-437B-B7A5-D93AEFC15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DBDE2-EACE-4733-A7F5-C7F4A644E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BC01E2-A75E-4752-B8E5-C54103DD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E4D50-598F-4FAE-B27E-6E5204D78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727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17458-F941-45F4-AB73-546C400F0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2A53D2-1325-4506-BFA4-FDE1E512B9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F4FF6-4F91-456B-8267-805DAF9F63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7A78EE-60A8-43C0-BDA5-406ABBFFA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01D526-FD9C-42D5-B3D0-691CA8709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A53C25-255C-4E0D-90A1-18C766EAD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24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D797B-3632-469C-BD26-11E360DE9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732019-B819-4F91-8B94-F66CF098E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CF746-E118-4CC3-8CC8-A0928ECA6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5CF0F-A0CA-4D1F-93DE-59AC04C9A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8BE5D-82E1-49C0-9CA6-D8DE39957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92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866CB3-AE6F-4236-8591-C39921DA4F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3A8E53-1ECE-4FA7-BF2B-775F4871EB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B8DF5-3BFB-4FC1-BC20-6ACF02AD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C8E92-2B21-4F02-88AB-404AA75AD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BB9D0-5332-4C75-9BF5-D98F3FDF1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730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D39354-5F9F-4650-A590-5EFE354D6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C4600-10B7-4958-8EEC-95C2B6B04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B0C81-8E1E-4999-B962-3C05DEAF6A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2FCAC-0525-4226-B4C2-599EEA8A5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B5D8E-5C65-40EE-8114-BD298557A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19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700" y="5715000"/>
            <a:ext cx="108966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429750" y="552450"/>
            <a:ext cx="2114550" cy="266700"/>
          </a:xfrm>
          <a:prstGeom prst="roundRect">
            <a:avLst>
              <a:gd name="adj" fmla="val 21428"/>
            </a:avLst>
          </a:prstGeom>
          <a:solidFill>
            <a:srgbClr val="3C202F"/>
          </a:solidFill>
          <a:ln w="9525">
            <a:solidFill>
              <a:srgbClr val="6929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7700" y="5715000"/>
            <a:ext cx="108966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533400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6153150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275" y="6153150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6153150"/>
            <a:ext cx="13335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25000" y="590550"/>
            <a:ext cx="20193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7171"/>
                </a:solidFill>
                <a:latin typeface="JetBrains Mono"/>
              </a:rPr>
              <a:t>IoT Big Data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2318593"/>
            <a:ext cx="115443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7171"/>
                </a:solidFill>
                <a:latin typeface="Plus Jakarta Sans"/>
              </a:rPr>
              <a:t>DISTRIBUTED IOT &amp; PREDICTIVE FAILURE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2594818"/>
            <a:ext cx="9901237" cy="1007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sz="3450" b="1" i="0" u="none" dirty="0">
                <a:solidFill>
                  <a:srgbClr val="F8FAFC"/>
                </a:solidFill>
                <a:latin typeface="Plus Jakarta Sans"/>
              </a:rPr>
              <a:t>Real-Time Machine Heat Monitoring &amp; Predictive Failure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3754784"/>
            <a:ext cx="82867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Sub-second Kafka streaming, dual-tier MySQL &amp; HDFS storage, and PySpark MLlib failure prediction across nationwide washer fleets.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542925"/>
            <a:ext cx="187895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Plus Jakarta Sans"/>
              </a:rPr>
              <a:t>SPINWATCH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5915025"/>
            <a:ext cx="71199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PROJECT GROUP MEMBERS: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9643" y="5991225"/>
            <a:ext cx="296465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75" b="0" i="0" u="none">
                <a:solidFill>
                  <a:srgbClr val="64748B"/>
                </a:solidFill>
                <a:latin typeface="Inter"/>
              </a:rPr>
              <a:t>Target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9643" y="6143625"/>
            <a:ext cx="29646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25" b="1" i="0" u="none">
                <a:solidFill>
                  <a:srgbClr val="F87171"/>
                </a:solidFill>
                <a:latin typeface="Inter"/>
              </a:rPr>
              <a:t>13 Urban Centers • 1,000 Washers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6134100"/>
            <a:ext cx="3369468" cy="19050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Inter"/>
              </a:rPr>
              <a:t>Amie Marie Flora Dushimumukiza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5675" y="6134100"/>
            <a:ext cx="3619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4275" y="6134100"/>
            <a:ext cx="1535906" cy="19050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Inter"/>
              </a:rPr>
              <a:t>Kwizera Rene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5400" y="6134100"/>
            <a:ext cx="3619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0" y="6134100"/>
            <a:ext cx="1295400" cy="19050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Inter"/>
              </a:rPr>
              <a:t>Grace Teta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8188" y="2286446"/>
            <a:ext cx="5791646" cy="2966815"/>
          </a:xfrm>
          <a:prstGeom prst="roundRect">
            <a:avLst>
              <a:gd name="adj" fmla="val 21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6939408" y="2286446"/>
            <a:ext cx="4719191" cy="87630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39408" y="3296096"/>
            <a:ext cx="4719191" cy="1057275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39408" y="4486721"/>
            <a:ext cx="4719191" cy="87630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533" y="2600771"/>
            <a:ext cx="3048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7533" y="3700908"/>
            <a:ext cx="297507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7533" y="4801046"/>
            <a:ext cx="304800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4387" y="1490662"/>
            <a:ext cx="3525773" cy="4008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3600" b="1" i="0" u="none" dirty="0">
                <a:solidFill>
                  <a:srgbClr val="0F172A"/>
                </a:solidFill>
                <a:latin typeface="Plus Jakarta Sans"/>
              </a:rPr>
              <a:t>Executive Abstract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2975" y="2419796"/>
            <a:ext cx="743276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172A"/>
                </a:solidFill>
                <a:latin typeface="Inter"/>
              </a:rPr>
              <a:t>Managing Commercial Fleet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2893665"/>
            <a:ext cx="5758308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Rapid commercial expansion across Rwandan urban centers faces severe maintenance bottlenecks. Overseeing </a:t>
            </a:r>
            <a:r>
              <a:rPr sz="1275" b="1" i="0" u="none">
                <a:solidFill>
                  <a:srgbClr val="334155"/>
                </a:solidFill>
                <a:latin typeface="Inter"/>
              </a:rPr>
              <a:t>1,000 coin and app-operated washing machines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across </a:t>
            </a:r>
            <a:r>
              <a:rPr sz="1275" b="1" i="0" u="none">
                <a:solidFill>
                  <a:srgbClr val="334155"/>
                </a:solidFill>
                <a:latin typeface="Inter"/>
              </a:rPr>
              <a:t>13 branches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renders manual inspections ineffective and costly.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4081908"/>
            <a:ext cx="5758308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SpinWatch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establishes an end-to-end Big Data IoT architecture. By processing continuous thermal streams and executing a </a:t>
            </a:r>
            <a:r>
              <a:rPr sz="1275" b="1" i="0" u="none">
                <a:solidFill>
                  <a:srgbClr val="334155"/>
                </a:solidFill>
                <a:latin typeface="Inter"/>
              </a:rPr>
              <a:t>PySpark MLlib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predictive classifier, SpinWatch flags overheating motors </a:t>
            </a:r>
            <a:r>
              <a:rPr sz="1275" b="1" i="0" u="none">
                <a:solidFill>
                  <a:srgbClr val="334155"/>
                </a:solidFill>
                <a:latin typeface="Inter"/>
              </a:rPr>
              <a:t>1 cycle prior to failure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, maximizing uptime.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3783" y="2524571"/>
            <a:ext cx="453821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Sub-Second 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783" y="2743646"/>
            <a:ext cx="453821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64748B"/>
                </a:solidFill>
                <a:latin typeface="Inter"/>
              </a:rPr>
              <a:t>Kafka-backed stream ingesting 3–10 TPS continuously.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6491" y="3534221"/>
            <a:ext cx="454550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0.94 ROC AUC Precision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46491" y="3753296"/>
            <a:ext cx="386923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PySpark MLlib Logistic Regression breakdown detection.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3783" y="4724846"/>
            <a:ext cx="453821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Preemptive Dispatch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783" y="4943921"/>
            <a:ext cx="4524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Routes field repair crews before coil burnout occurs.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1210567"/>
            <a:ext cx="2667000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52800" y="1210567"/>
            <a:ext cx="2667000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72200" y="1210567"/>
            <a:ext cx="2667000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91600" y="1210567"/>
            <a:ext cx="2667000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9825" y="3358008"/>
            <a:ext cx="5438775" cy="1076325"/>
          </a:xfrm>
          <a:prstGeom prst="roundRect">
            <a:avLst>
              <a:gd name="adj" fmla="val 106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9825" y="4567683"/>
            <a:ext cx="5438775" cy="895350"/>
          </a:xfrm>
          <a:prstGeom prst="roundRect">
            <a:avLst>
              <a:gd name="adj" fmla="val 1276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219896"/>
            <a:ext cx="5457825" cy="2381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3229421"/>
            <a:ext cx="5438775" cy="2362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647700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0F172A"/>
                </a:solidFill>
                <a:latin typeface="Plus Jakarta Sans"/>
              </a:rPr>
              <a:t>Rwandan Laundromat Scale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1410592"/>
            <a:ext cx="12954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850"/>
              </a:lnSpc>
            </a:pPr>
            <a:r>
              <a:rPr sz="2850" b="1" i="0" u="none">
                <a:solidFill>
                  <a:srgbClr val="DC2626"/>
                </a:solidFill>
                <a:latin typeface="Inter"/>
              </a:rPr>
              <a:t>1,000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7509" y="1810642"/>
            <a:ext cx="16787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64748B"/>
                </a:solidFill>
                <a:latin typeface="Inter"/>
              </a:rPr>
              <a:t>Monitored Washers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8162" y="1410592"/>
            <a:ext cx="676275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850"/>
              </a:lnSpc>
            </a:pPr>
            <a:r>
              <a:rPr sz="2850" b="1" i="0" u="none">
                <a:solidFill>
                  <a:srgbClr val="2563EB"/>
                </a:solidFill>
                <a:latin typeface="Inter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4065" y="1810642"/>
            <a:ext cx="146446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64748B"/>
                </a:solidFill>
                <a:latin typeface="Inter"/>
              </a:rPr>
              <a:t>Nationwide Hubs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3250" y="1410592"/>
            <a:ext cx="11049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850"/>
              </a:lnSpc>
            </a:pPr>
            <a:r>
              <a:rPr sz="2850" b="1" i="0" u="none">
                <a:solidFill>
                  <a:srgbClr val="D97706"/>
                </a:solidFill>
                <a:latin typeface="Inter"/>
              </a:rPr>
              <a:t>3–10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5606" y="1810642"/>
            <a:ext cx="150018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64748B"/>
                </a:solidFill>
                <a:latin typeface="Inter"/>
              </a:rPr>
              <a:t>TPS Stream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80959" y="1410592"/>
            <a:ext cx="1488281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850"/>
              </a:lnSpc>
            </a:pPr>
            <a:r>
              <a:rPr sz="2850" b="1" i="0" u="none">
                <a:solidFill>
                  <a:srgbClr val="16A34A"/>
                </a:solidFill>
                <a:latin typeface="Inter"/>
              </a:rPr>
              <a:t>99.8%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1687" y="1810642"/>
            <a:ext cx="12668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64748B"/>
                </a:solidFill>
                <a:latin typeface="Inter"/>
              </a:rPr>
              <a:t>Target 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7950" y="3596133"/>
            <a:ext cx="57340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Kigali Urban District Hubs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7950" y="3834258"/>
            <a:ext cx="50577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10 primary laundromat locations in high-density urban commercial sectors.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7950" y="4805808"/>
            <a:ext cx="57340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Musanze Regional Centers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7950" y="5043933"/>
            <a:ext cx="57340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3 strategic branch centers supporting regional commercial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753600" y="419100"/>
            <a:ext cx="1905000" cy="3048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15315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1995487"/>
            <a:ext cx="4894957" cy="847725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2976562"/>
            <a:ext cx="4894957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4138612"/>
            <a:ext cx="4894957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2833687"/>
            <a:ext cx="48949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1995487"/>
            <a:ext cx="48949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1995487"/>
            <a:ext cx="38100" cy="84772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18832" y="1995487"/>
            <a:ext cx="9525" cy="8477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3400" y="3995737"/>
            <a:ext cx="48949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3400" y="2976562"/>
            <a:ext cx="48949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3400" y="2976562"/>
            <a:ext cx="3810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18832" y="2976562"/>
            <a:ext cx="9525" cy="1028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5157787"/>
            <a:ext cx="48949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3400" y="4138612"/>
            <a:ext cx="48949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3400" y="4138612"/>
            <a:ext cx="38100" cy="10287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18832" y="4138612"/>
            <a:ext cx="9525" cy="1028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6475" y="504825"/>
            <a:ext cx="133350" cy="1333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3802" y="1781175"/>
            <a:ext cx="6001642" cy="3619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6482" y="1781175"/>
            <a:ext cx="2886075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096500" y="476250"/>
            <a:ext cx="15240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Plus Jakarta Sans"/>
              </a:rPr>
              <a:t>1,000 Active Washers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6276975"/>
            <a:ext cx="177403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SpinWatch IoT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3225" y="6276975"/>
            <a:ext cx="13811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System Overview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419100"/>
            <a:ext cx="8370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EXECUTIVE FRAMING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628650"/>
            <a:ext cx="8788598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The Commercial Laundry Overheating Challenge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050" y="2214562"/>
            <a:ext cx="5812054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Thermal Overheating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050" y="2443162"/>
            <a:ext cx="553529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Spikes above 70°C trigger immediate motor failure.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050" y="3195637"/>
            <a:ext cx="5812054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Nationwide Fleet 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050" y="3424237"/>
            <a:ext cx="452348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Centralized monitoring across Kigali, Huye, Musanze, &amp; 10 other branches.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050" y="4357687"/>
            <a:ext cx="5812054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Predictive Alert Defense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050" y="4586287"/>
            <a:ext cx="452348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Flags high-risk machines before catastrophic breakdown occurs.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9823C9C-277A-4638-91F7-680BB0FAC0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907" y="1781175"/>
            <a:ext cx="6056727" cy="36194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229850" y="419100"/>
            <a:ext cx="1428750" cy="3048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15315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781300"/>
            <a:ext cx="2103090" cy="16002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88890" y="2781300"/>
            <a:ext cx="2103090" cy="16002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44380" y="2876550"/>
            <a:ext cx="2103090" cy="14097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299870" y="2781300"/>
            <a:ext cx="2103090" cy="16002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555360" y="2690812"/>
            <a:ext cx="2103090" cy="1781175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2475" y="3019425"/>
            <a:ext cx="800100" cy="247650"/>
          </a:xfrm>
          <a:prstGeom prst="roundRect">
            <a:avLst>
              <a:gd name="adj" fmla="val 23076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4371975"/>
            <a:ext cx="21030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3400" y="2781300"/>
            <a:ext cx="2103090" cy="285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3400" y="2781300"/>
            <a:ext cx="9525" cy="1600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626965" y="2781300"/>
            <a:ext cx="9525" cy="1600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007965" y="3019425"/>
            <a:ext cx="723900" cy="247650"/>
          </a:xfrm>
          <a:prstGeom prst="roundRect">
            <a:avLst>
              <a:gd name="adj" fmla="val 23076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88890" y="4371975"/>
            <a:ext cx="21030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88890" y="2781300"/>
            <a:ext cx="2103090" cy="285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88890" y="2781300"/>
            <a:ext cx="9525" cy="1600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882455" y="2781300"/>
            <a:ext cx="9525" cy="1600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263455" y="3114675"/>
            <a:ext cx="647700" cy="247650"/>
          </a:xfrm>
          <a:prstGeom prst="roundRect">
            <a:avLst>
              <a:gd name="adj" fmla="val 23076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44380" y="4276725"/>
            <a:ext cx="21030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44380" y="2876550"/>
            <a:ext cx="2103090" cy="285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44380" y="2876550"/>
            <a:ext cx="9525" cy="1409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37945" y="2876550"/>
            <a:ext cx="9525" cy="1409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518945" y="3019425"/>
            <a:ext cx="800100" cy="247650"/>
          </a:xfrm>
          <a:prstGeom prst="roundRect">
            <a:avLst>
              <a:gd name="adj" fmla="val 23076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299870" y="4371975"/>
            <a:ext cx="21030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99870" y="2781300"/>
            <a:ext cx="2103090" cy="285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299870" y="2781300"/>
            <a:ext cx="9525" cy="1600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393435" y="2781300"/>
            <a:ext cx="9525" cy="1600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774435" y="2928937"/>
            <a:ext cx="571500" cy="247650"/>
          </a:xfrm>
          <a:prstGeom prst="roundRect">
            <a:avLst>
              <a:gd name="adj" fmla="val 23076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555360" y="4462462"/>
            <a:ext cx="21030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55360" y="2690812"/>
            <a:ext cx="2103090" cy="285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555360" y="2690812"/>
            <a:ext cx="9525" cy="1781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1648926" y="2690812"/>
            <a:ext cx="9525" cy="1781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2725" y="504825"/>
            <a:ext cx="114300" cy="1333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553700" y="476250"/>
            <a:ext cx="10668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Plus Jakarta Sans"/>
              </a:rPr>
              <a:t>Big Data Pillars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3400" y="6276975"/>
            <a:ext cx="177403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SpinWatch IoT Pipeline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44175" y="6276975"/>
            <a:ext cx="14001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Big Data Strategy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3400" y="419100"/>
            <a:ext cx="7250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BIG DATA FOUNDATIONS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400" y="628650"/>
            <a:ext cx="7613451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Fulfilling the 5 V's of Big Data Architecture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725" y="3057525"/>
            <a:ext cx="7048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91C1C"/>
                </a:solidFill>
                <a:latin typeface="JetBrains Mono"/>
              </a:rPr>
              <a:t>VELOCITY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2475" y="3362325"/>
            <a:ext cx="184819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Sub-Second Ingestion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2475" y="3800475"/>
            <a:ext cx="176019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Stream processing at 3–10 TPS via Kafka.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03215" y="3057525"/>
            <a:ext cx="628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91C1C"/>
                </a:solidFill>
                <a:latin typeface="JetBrains Mono"/>
              </a:rPr>
              <a:t>VARIETY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07965" y="3362325"/>
            <a:ext cx="184819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Multi-Sensor Telemetry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07965" y="3800475"/>
            <a:ext cx="176019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Heat, vibration, power, &amp; pressure payload.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58705" y="3152775"/>
            <a:ext cx="552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91C1C"/>
                </a:solidFill>
                <a:latin typeface="JetBrains Mono"/>
              </a:rPr>
              <a:t>VOLUME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63455" y="3457575"/>
            <a:ext cx="2185234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Partitioned HDFS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63455" y="3705225"/>
            <a:ext cx="176019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Columnar Parquet partitions by date.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14195" y="3057525"/>
            <a:ext cx="7048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91C1C"/>
                </a:solidFill>
                <a:latin typeface="JetBrains Mono"/>
              </a:rPr>
              <a:t>VERACITY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18945" y="3362325"/>
            <a:ext cx="184819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At-Least-Once Delivery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18945" y="3800475"/>
            <a:ext cx="176019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Manual Kafka offsets &amp; idempotent UPSERTs.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69685" y="2967037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47857"/>
                </a:solidFill>
                <a:latin typeface="JetBrains Mono"/>
              </a:rPr>
              <a:t>VALUE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74435" y="3271837"/>
            <a:ext cx="184819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Predictive Maintenance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74435" y="3709987"/>
            <a:ext cx="176019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47857"/>
                </a:solidFill>
                <a:latin typeface="Inter"/>
              </a:rPr>
              <a:t>Proactive dispatch preventing machine failure.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867900" y="419100"/>
            <a:ext cx="1790700" cy="3048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743200"/>
            <a:ext cx="1112520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615315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9625" y="3062287"/>
            <a:ext cx="2337643" cy="1038225"/>
          </a:xfrm>
          <a:prstGeom prst="roundRect">
            <a:avLst>
              <a:gd name="adj" fmla="val 7339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528268" y="3062287"/>
            <a:ext cx="2337643" cy="1038225"/>
          </a:xfrm>
          <a:prstGeom prst="roundRect">
            <a:avLst>
              <a:gd name="adj" fmla="val 7339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044582" y="3062287"/>
            <a:ext cx="2337643" cy="1038225"/>
          </a:xfrm>
          <a:prstGeom prst="roundRect">
            <a:avLst>
              <a:gd name="adj" fmla="val 73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425922" y="3224212"/>
            <a:ext cx="1104900" cy="247650"/>
          </a:xfrm>
          <a:prstGeom prst="roundRect">
            <a:avLst>
              <a:gd name="adj" fmla="val 23076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106465" y="3224212"/>
            <a:ext cx="1181100" cy="247650"/>
          </a:xfrm>
          <a:prstGeom prst="roundRect">
            <a:avLst>
              <a:gd name="adj" fmla="val 2307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46911" y="3019425"/>
            <a:ext cx="2416671" cy="523875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6911" y="3619500"/>
            <a:ext cx="2416671" cy="523875"/>
          </a:xfrm>
          <a:prstGeom prst="roundRect">
            <a:avLst>
              <a:gd name="adj" fmla="val 14545"/>
            </a:avLst>
          </a:prstGeom>
          <a:solidFill>
            <a:srgbClr val="FDF2F8"/>
          </a:solidFill>
          <a:ln w="9525">
            <a:solidFill>
              <a:srgbClr val="FBC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584680" y="3224212"/>
            <a:ext cx="1257300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0775" y="504825"/>
            <a:ext cx="15240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568" y="3495675"/>
            <a:ext cx="15240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211" y="3495675"/>
            <a:ext cx="15240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7882" y="3495675"/>
            <a:ext cx="152400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229850" y="476250"/>
            <a:ext cx="13906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Plus Jakarta Sans"/>
              </a:rPr>
              <a:t>Tiered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276975"/>
            <a:ext cx="177403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SpinWatch IoT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58425" y="6276975"/>
            <a:ext cx="175021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Architecture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419100"/>
            <a:ext cx="7358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SYSTEM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628650"/>
            <a:ext cx="772596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End-to-End Distributed Pipeline Blueprint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8297" y="3262312"/>
            <a:ext cx="1200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B91C1C"/>
                </a:solidFill>
                <a:latin typeface="JetBrains Mono"/>
              </a:rPr>
              <a:t>INGRESS TIER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894" y="3548062"/>
            <a:ext cx="264310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991B1B"/>
                </a:solidFill>
                <a:latin typeface="Inter"/>
              </a:rPr>
              <a:t>Telemetry Generator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825" y="3776662"/>
            <a:ext cx="251724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DC2626"/>
                </a:solidFill>
                <a:latin typeface="JetBrains Mono"/>
              </a:rPr>
              <a:t>Port 8000 / 8001 REST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54078" y="3262312"/>
            <a:ext cx="12858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B45309"/>
                </a:solidFill>
                <a:latin typeface="JetBrains Mono"/>
              </a:rPr>
              <a:t>STREAM BROKER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75538" y="3548062"/>
            <a:ext cx="264310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78350F"/>
                </a:solidFill>
                <a:latin typeface="Inter"/>
              </a:rPr>
              <a:t>Apache Kafka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38469" y="3776662"/>
            <a:ext cx="251724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0F172A"/>
                </a:solidFill>
                <a:latin typeface="JetBrains Mono"/>
              </a:rPr>
              <a:t>3 Topic Partitions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2767" y="3262312"/>
            <a:ext cx="13811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34155"/>
                </a:solidFill>
                <a:latin typeface="JetBrains Mono"/>
              </a:rPr>
              <a:t>ANALYTICS &amp;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1852" y="3548062"/>
            <a:ext cx="264310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0F172A"/>
                </a:solidFill>
                <a:latin typeface="Inter"/>
              </a:rPr>
              <a:t>PySpark &amp;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54783" y="3776662"/>
            <a:ext cx="251724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475569"/>
                </a:solidFill>
                <a:latin typeface="JetBrains Mono"/>
              </a:rPr>
              <a:t>Port 8050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75796" y="3124200"/>
            <a:ext cx="275890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66534"/>
                </a:solidFill>
                <a:latin typeface="Inter"/>
              </a:rPr>
              <a:t>MySQL (Operational Storage)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75796" y="3286125"/>
            <a:ext cx="275890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15803D"/>
                </a:solidFill>
                <a:latin typeface="JetBrains Mono"/>
              </a:rPr>
              <a:t>Sub-ms Live UI Reads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75796" y="3724275"/>
            <a:ext cx="275890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9D174D"/>
                </a:solidFill>
                <a:latin typeface="Inter"/>
              </a:rPr>
              <a:t>HDFS (Historical Store)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75796" y="3886200"/>
            <a:ext cx="275890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BE185D"/>
                </a:solidFill>
                <a:latin typeface="JetBrains Mono"/>
              </a:rPr>
              <a:t>dt=YYYY-MM-DD Parquet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810750" y="419100"/>
            <a:ext cx="1847850" cy="3048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15315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2333625"/>
            <a:ext cx="5007471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3657600"/>
            <a:ext cx="5007471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81050" y="2552700"/>
            <a:ext cx="1485900" cy="247650"/>
          </a:xfrm>
          <a:prstGeom prst="roundRect">
            <a:avLst>
              <a:gd name="adj" fmla="val 23076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3495675"/>
            <a:ext cx="50074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2333625"/>
            <a:ext cx="50074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2333625"/>
            <a:ext cx="38100" cy="11715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531346" y="2333625"/>
            <a:ext cx="9525" cy="1171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81050" y="3876675"/>
            <a:ext cx="1562100" cy="247650"/>
          </a:xfrm>
          <a:prstGeom prst="roundRect">
            <a:avLst>
              <a:gd name="adj" fmla="val 2307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3400" y="4819650"/>
            <a:ext cx="50074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3400" y="3657600"/>
            <a:ext cx="50074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3657600"/>
            <a:ext cx="38100" cy="11715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531346" y="3657600"/>
            <a:ext cx="9525" cy="1171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625" y="504825"/>
            <a:ext cx="133350" cy="1333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153650" y="476250"/>
            <a:ext cx="14668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Plus Jakarta Sans"/>
              </a:rPr>
              <a:t>Telemetry Generator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6276975"/>
            <a:ext cx="177403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SpinWatch IoT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10875" y="6276975"/>
            <a:ext cx="11334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Ingress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419100"/>
            <a:ext cx="7405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INGRESS TIER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628650"/>
            <a:ext cx="7775971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Multi-Sensor Telemetry &amp; REST Ingress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59971" y="2651819"/>
            <a:ext cx="6232028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64748B"/>
                </a:solidFill>
                <a:latin typeface="JetBrains Mono"/>
              </a:rPr>
              <a:t>// REST Ingress Payload Sample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59971" y="2926109"/>
            <a:ext cx="6232028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F87171"/>
                </a:solidFill>
                <a:latin typeface="JetBrains Mono"/>
              </a:rPr>
              <a:t>POST</a:t>
            </a:r>
            <a:r>
              <a:rPr sz="975" b="0" i="0" u="none">
                <a:solidFill>
                  <a:srgbClr val="F8FAFC"/>
                </a:solidFill>
                <a:latin typeface="JetBrains Mono"/>
              </a:rPr>
              <a:t> /api/readings/ HTTP/1.1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59971" y="3124200"/>
            <a:ext cx="6232028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F8FAFC"/>
                </a:solidFill>
                <a:latin typeface="JetBrains Mono"/>
              </a:rPr>
              <a:t>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12371" y="3322290"/>
            <a:ext cx="6079628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F8FAFC"/>
                </a:solidFill>
                <a:latin typeface="JetBrains Mono"/>
              </a:rPr>
              <a:t>"washer_id": </a:t>
            </a:r>
            <a:r>
              <a:rPr sz="975" b="0" i="0" u="none">
                <a:solidFill>
                  <a:srgbClr val="F59E0B"/>
                </a:solidFill>
                <a:latin typeface="JetBrains Mono"/>
              </a:rPr>
              <a:t>"WM_0874"</a:t>
            </a:r>
            <a:r>
              <a:rPr sz="975" b="0" i="0" u="none">
                <a:solidFill>
                  <a:srgbClr val="F8FAFC"/>
                </a:solidFill>
                <a:latin typeface="JetBrains Mono"/>
              </a:rPr>
              <a:t>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12371" y="3520380"/>
            <a:ext cx="6079628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F8FAFC"/>
                </a:solidFill>
                <a:latin typeface="JetBrains Mono"/>
              </a:rPr>
              <a:t>"branch": </a:t>
            </a:r>
            <a:r>
              <a:rPr sz="975" b="0" i="0" u="none">
                <a:solidFill>
                  <a:srgbClr val="F59E0B"/>
                </a:solidFill>
                <a:latin typeface="JetBrains Mono"/>
              </a:rPr>
              <a:t>"Huye"</a:t>
            </a:r>
            <a:r>
              <a:rPr sz="975" b="0" i="0" u="none">
                <a:solidFill>
                  <a:srgbClr val="F8FAFC"/>
                </a:solidFill>
                <a:latin typeface="JetBrains Mono"/>
              </a:rPr>
              <a:t>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2371" y="3916560"/>
            <a:ext cx="6079628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F8FAFC"/>
                </a:solidFill>
                <a:latin typeface="JetBrains Mono"/>
              </a:rPr>
              <a:t>"vibration_hz": 78.2,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59971" y="4312741"/>
            <a:ext cx="6232028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F8FAFC"/>
                </a:solidFill>
                <a:latin typeface="JetBrains Mono"/>
              </a:rPr>
              <a:t>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6300" y="2590800"/>
            <a:ext cx="1390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91C1C"/>
                </a:solidFill>
                <a:latin typeface="JetBrains Mono"/>
              </a:rPr>
              <a:t>3.0 TPS INGESTION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050" y="2876550"/>
            <a:ext cx="595972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Microsecond Telemetry Stream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050" y="3105150"/>
            <a:ext cx="567593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Thermal drift simulation across 1,000 active washers.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6300" y="3914775"/>
            <a:ext cx="14668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45309"/>
                </a:solidFill>
                <a:latin typeface="JetBrains Mono"/>
              </a:rPr>
              <a:t>PHYSICS SIMULATION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050" y="4200525"/>
            <a:ext cx="595972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Automatic Thermal Correlation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050" y="4429125"/>
            <a:ext cx="567593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Power usage &amp; vibration scale dynamically with heat spikes.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A615650-10AC-4DBB-AF26-4F659B8CFE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1812" b="5004"/>
          <a:stretch/>
        </p:blipFill>
        <p:spPr>
          <a:xfrm>
            <a:off x="5824978" y="2271713"/>
            <a:ext cx="4466189" cy="30793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496425" y="419100"/>
            <a:ext cx="2162175" cy="3048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15315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177504"/>
            <a:ext cx="4366319" cy="1337220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3648075"/>
            <a:ext cx="4366319" cy="1337220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3505200"/>
            <a:ext cx="43663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2177504"/>
            <a:ext cx="4366319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2177504"/>
            <a:ext cx="9525" cy="13372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90194" y="2177504"/>
            <a:ext cx="9525" cy="13372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4975770"/>
            <a:ext cx="43663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3400" y="3648075"/>
            <a:ext cx="4366319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3400" y="3648075"/>
            <a:ext cx="9525" cy="13372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90194" y="3648075"/>
            <a:ext cx="9525" cy="13372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9300" y="504825"/>
            <a:ext cx="171450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219" y="1771650"/>
            <a:ext cx="6568380" cy="3619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9744" y="1781175"/>
            <a:ext cx="2286000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877425" y="476250"/>
            <a:ext cx="17430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Plus Jakarta Sans"/>
              </a:rPr>
              <a:t>Topic: machine-readings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276975"/>
            <a:ext cx="177403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SpinWatch IoT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72750" y="6276975"/>
            <a:ext cx="13716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Streaming Broker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419100"/>
            <a:ext cx="72032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STREAMING BROKER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628650"/>
            <a:ext cx="756344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Apache Kafka Stream &amp; Inspector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475" y="2425154"/>
            <a:ext cx="4910211" cy="460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sz="3300" b="1" i="0" u="none">
                <a:solidFill>
                  <a:srgbClr val="DC2626"/>
                </a:solidFill>
                <a:latin typeface="Plus Jakarta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475" y="2924175"/>
            <a:ext cx="515572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Topic Partitions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475" y="3133725"/>
            <a:ext cx="491021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Balanced horizontal parallelism.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475" y="3895725"/>
            <a:ext cx="4910211" cy="460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sz="3300" b="1" i="0" u="none">
                <a:solidFill>
                  <a:srgbClr val="D97706"/>
                </a:solidFill>
                <a:latin typeface="Plus Jakarta Sans"/>
              </a:rPr>
              <a:t>Keyed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475" y="4394745"/>
            <a:ext cx="515572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washer_id Keying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475" y="4604295"/>
            <a:ext cx="491021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Guarantees strict per-machine ordering.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83D8916-339B-4D2B-BB56-FA6AC05CBF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2121" y="1771650"/>
            <a:ext cx="6568380" cy="36924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096500" y="419100"/>
            <a:ext cx="1562100" cy="3048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15315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624137"/>
            <a:ext cx="5429250" cy="1914525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29350" y="2624137"/>
            <a:ext cx="5429250" cy="1914525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52475" y="2871787"/>
            <a:ext cx="1409700" cy="247650"/>
          </a:xfrm>
          <a:prstGeom prst="roundRect">
            <a:avLst>
              <a:gd name="adj" fmla="val 23076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4529137"/>
            <a:ext cx="542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2624137"/>
            <a:ext cx="542925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2624137"/>
            <a:ext cx="9525" cy="1914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53125" y="2624137"/>
            <a:ext cx="9525" cy="1914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52475" y="3786187"/>
            <a:ext cx="4991100" cy="53340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48425" y="2871787"/>
            <a:ext cx="1333500" cy="247650"/>
          </a:xfrm>
          <a:prstGeom prst="roundRect">
            <a:avLst>
              <a:gd name="adj" fmla="val 23076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29350" y="4529137"/>
            <a:ext cx="542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29350" y="2624137"/>
            <a:ext cx="5429250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29350" y="2624137"/>
            <a:ext cx="9525" cy="1914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649075" y="2624137"/>
            <a:ext cx="9525" cy="1914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48425" y="3786187"/>
            <a:ext cx="4991100" cy="53340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9375" y="504825"/>
            <a:ext cx="114300" cy="1333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420350" y="476250"/>
            <a:ext cx="12001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Plus Jakarta Sans"/>
              </a:rPr>
              <a:t>Dual Persistence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6276975"/>
            <a:ext cx="177403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SpinWatch IoT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72750" y="6276975"/>
            <a:ext cx="13716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Storage Pipelines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419100"/>
            <a:ext cx="6524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AUTOMATED STORAGE SINKS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628650"/>
            <a:ext cx="6850856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Kafka Connect Dual Storage Pipelines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2909887"/>
            <a:ext cx="1314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91C1C"/>
                </a:solidFill>
                <a:latin typeface="JetBrains Mono"/>
              </a:rPr>
              <a:t>OPERATIONAL SINK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475" y="3214687"/>
            <a:ext cx="65508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mysql-sink-laundry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475" y="3471862"/>
            <a:ext cx="62388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Direct stream landing to operational MySQL database.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825" y="3881437"/>
            <a:ext cx="48196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JetBrains Mono"/>
              </a:rPr>
              <a:t>insert.mode = upsert</a:t>
            </a:r>
            <a:r>
              <a:t>
</a:t>
            </a:r>
            <a:r>
              <a:rPr sz="975" b="0" i="0" u="none">
                <a:solidFill>
                  <a:srgbClr val="334155"/>
                </a:solidFill>
                <a:latin typeface="JetBrains Mono"/>
              </a:rPr>
              <a:t> pk.fields = reading_id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3675" y="2909887"/>
            <a:ext cx="1238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47857"/>
                </a:solidFill>
                <a:latin typeface="JetBrains Mono"/>
              </a:rPr>
              <a:t>HISTORICAL SINK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8425" y="3214687"/>
            <a:ext cx="57435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hdfs-sink-laundry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8425" y="3471862"/>
            <a:ext cx="57435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Columnar Parquet store landed directly in HDFS.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1775" y="3881437"/>
            <a:ext cx="48196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JetBrains Mono"/>
              </a:rPr>
              <a:t>partitioner = TimeBased</a:t>
            </a:r>
            <a:r>
              <a:t>
</a:t>
            </a:r>
            <a:r>
              <a:rPr sz="975" b="0" i="0" u="none">
                <a:solidFill>
                  <a:srgbClr val="334155"/>
                </a:solidFill>
                <a:latin typeface="JetBrains Mono"/>
              </a:rPr>
              <a:t> path.format = 'dt='YYYY-MM-DD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191750" y="419100"/>
            <a:ext cx="1466850" cy="3048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15315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4625" y="504825"/>
            <a:ext cx="114300" cy="133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195512"/>
            <a:ext cx="5467350" cy="304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195512"/>
            <a:ext cx="5467350" cy="3048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938337"/>
            <a:ext cx="14287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2205037"/>
            <a:ext cx="28479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1938337"/>
            <a:ext cx="14287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0775" y="2205037"/>
            <a:ext cx="2047875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515600" y="476250"/>
            <a:ext cx="11049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Plus Jakarta Sans"/>
              </a:rPr>
              <a:t>Storage Tiering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276975"/>
            <a:ext cx="177403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SpinWatch IoT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6575" y="6276975"/>
            <a:ext cx="12477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Storage Tiering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419100"/>
            <a:ext cx="86320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STORAGE SEPARATION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628650"/>
            <a:ext cx="9063632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MySQL Operational vs HDFS Analytical Inspection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1919287"/>
            <a:ext cx="6834187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MySQL Operational Real-Time Feed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1250" y="1919287"/>
            <a:ext cx="6000750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HDFS Raw Parquet Landed Stream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ED1E9CC-023E-46E8-A229-1C784ABA54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925" y="2214561"/>
            <a:ext cx="5457825" cy="30003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B6B9D3C-80D6-4488-9C0D-7E5A49E13E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0775" y="2176462"/>
            <a:ext cx="5419725" cy="30384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991725" y="419100"/>
            <a:ext cx="1666875" cy="3048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15315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91225" y="2596455"/>
            <a:ext cx="5667375" cy="1969740"/>
          </a:xfrm>
          <a:prstGeom prst="roundRect">
            <a:avLst>
              <a:gd name="adj" fmla="val 58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2400300"/>
            <a:ext cx="5191125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3648075"/>
            <a:ext cx="5191125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81050" y="2619375"/>
            <a:ext cx="1638300" cy="247650"/>
          </a:xfrm>
          <a:prstGeom prst="roundRect">
            <a:avLst>
              <a:gd name="adj" fmla="val 23076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3505200"/>
            <a:ext cx="51911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2400300"/>
            <a:ext cx="51911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2400300"/>
            <a:ext cx="38100" cy="111442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0" y="2400300"/>
            <a:ext cx="9525" cy="11144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81050" y="3867150"/>
            <a:ext cx="1562100" cy="247650"/>
          </a:xfrm>
          <a:prstGeom prst="roundRect">
            <a:avLst>
              <a:gd name="adj" fmla="val 23076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3400" y="4752975"/>
            <a:ext cx="51911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3400" y="3648075"/>
            <a:ext cx="51911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3648075"/>
            <a:ext cx="38100" cy="111442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0" y="3648075"/>
            <a:ext cx="9525" cy="11144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600" y="504825"/>
            <a:ext cx="133350" cy="1333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334625" y="476250"/>
            <a:ext cx="12858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Plus Jakarta Sans"/>
              </a:rPr>
              <a:t>Model: lr_heat_v1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6276975"/>
            <a:ext cx="177403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SpinWatch IoT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0350" y="6276975"/>
            <a:ext cx="154781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Predictive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419100"/>
            <a:ext cx="6715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MACHINE LEARNING TIER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628650"/>
            <a:ext cx="7050881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PySpark MLlib Predictive Failure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80459" y="2834580"/>
            <a:ext cx="648890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64748B"/>
                </a:solidFill>
                <a:latin typeface="Inter"/>
              </a:rPr>
              <a:t>MODEL ROC AUC PERFORMANCE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80459" y="3091755"/>
            <a:ext cx="6488906" cy="712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609"/>
              </a:lnSpc>
            </a:pPr>
            <a:r>
              <a:rPr sz="5100" b="1" i="0" u="none">
                <a:solidFill>
                  <a:srgbClr val="DC2626"/>
                </a:solidFill>
                <a:latin typeface="Plus Jakarta Sans"/>
              </a:rPr>
              <a:t>0.94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80459" y="3842295"/>
            <a:ext cx="648890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0F172A"/>
                </a:solidFill>
                <a:latin typeface="Inter"/>
              </a:rPr>
              <a:t>Area Under ROC Curve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300" y="2657475"/>
            <a:ext cx="1543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47857"/>
                </a:solidFill>
                <a:latin typeface="JetBrains Mono"/>
              </a:rPr>
              <a:t>SUPERVISED LABELING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050" y="2905125"/>
            <a:ext cx="62007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PySpark Window Lead Function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050" y="3114675"/>
            <a:ext cx="5905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Flags breakdown risk when temperatures cross 70.0°C.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6300" y="3905250"/>
            <a:ext cx="14668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91C1C"/>
                </a:solidFill>
                <a:latin typeface="JetBrains Mono"/>
              </a:rPr>
              <a:t>ML PIPELINE STAGES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050" y="4152900"/>
            <a:ext cx="62007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Feature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050" y="4362450"/>
            <a:ext cx="5905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StringIndexer → VectorAssembler → LogisticRegression.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58100" y="4166145"/>
            <a:ext cx="12001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Precision: </a:t>
            </a:r>
            <a:r>
              <a:rPr sz="1050" b="1" i="0" u="none">
                <a:solidFill>
                  <a:srgbClr val="64748B"/>
                </a:solidFill>
                <a:latin typeface="Inter"/>
              </a:rPr>
              <a:t>0.91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24900" y="4166145"/>
            <a:ext cx="3619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3500" y="4166145"/>
            <a:ext cx="10382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Recall: </a:t>
            </a:r>
            <a:r>
              <a:rPr sz="1050" b="1" i="0" u="none">
                <a:solidFill>
                  <a:srgbClr val="64748B"/>
                </a:solidFill>
                <a:latin typeface="Inter"/>
              </a:rPr>
              <a:t>0.89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125075" y="419100"/>
            <a:ext cx="1533525" cy="3048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15315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881312"/>
            <a:ext cx="3581400" cy="140017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05300" y="2971800"/>
            <a:ext cx="35814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77200" y="2881312"/>
            <a:ext cx="3581400" cy="140017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4271962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2881312"/>
            <a:ext cx="3581400" cy="285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2881312"/>
            <a:ext cx="9525" cy="1400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05275" y="2881312"/>
            <a:ext cx="9525" cy="1400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05300" y="4181475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05300" y="2971800"/>
            <a:ext cx="358140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05300" y="2971800"/>
            <a:ext cx="9525" cy="1219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77175" y="2971800"/>
            <a:ext cx="9525" cy="1219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77200" y="4271962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77200" y="2881312"/>
            <a:ext cx="3581400" cy="28575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77200" y="2881312"/>
            <a:ext cx="9525" cy="1400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649075" y="2881312"/>
            <a:ext cx="9525" cy="1400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7950" y="504825"/>
            <a:ext cx="152400" cy="1333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3148012"/>
            <a:ext cx="276225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375" y="3238500"/>
            <a:ext cx="219075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6275" y="3148012"/>
            <a:ext cx="247650" cy="2476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487025" y="476250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Plus Jakarta Sans"/>
              </a:rPr>
              <a:t>Batch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6276975"/>
            <a:ext cx="177403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SpinWatch IoT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4175" y="6276975"/>
            <a:ext cx="14001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Batch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419100"/>
            <a:ext cx="79176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DISTRIBUTED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628650"/>
            <a:ext cx="8313539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PySpark Batch Intelligence &amp; Thermal Insights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2475" y="3471862"/>
            <a:ext cx="412551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Regional Baselines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475" y="3700462"/>
            <a:ext cx="3238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Average temperature tracking across all 13 branches.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4375" y="3562350"/>
            <a:ext cx="412551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Chronic Outliers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4375" y="3790950"/>
            <a:ext cx="3929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Pinpoints top recurring overheating washers.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6275" y="3471862"/>
            <a:ext cx="38957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Rush-Hour Peaks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6275" y="3700462"/>
            <a:ext cx="3238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Hourly heat distribution to optimize usage cycles.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239375" y="419100"/>
            <a:ext cx="1419225" cy="3048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15315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667000"/>
            <a:ext cx="4350990" cy="847725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3648075"/>
            <a:ext cx="4350990" cy="847725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3505200"/>
            <a:ext cx="43509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2667000"/>
            <a:ext cx="43509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2667000"/>
            <a:ext cx="38100" cy="84772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74865" y="2667000"/>
            <a:ext cx="9525" cy="8477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4486275"/>
            <a:ext cx="43509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3400" y="3648075"/>
            <a:ext cx="43509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3400" y="3648075"/>
            <a:ext cx="38100" cy="8477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74865" y="3648075"/>
            <a:ext cx="9525" cy="8477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0" y="504825"/>
            <a:ext cx="133350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990" y="1771650"/>
            <a:ext cx="6545609" cy="3619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2515" y="1781175"/>
            <a:ext cx="2181225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582275" y="476250"/>
            <a:ext cx="10382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Plus Jakarta Sans"/>
              </a:rPr>
              <a:t>Live Stream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276975"/>
            <a:ext cx="177403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SpinWatch IoT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5150" y="6276975"/>
            <a:ext cx="1219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Live Streaming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419100"/>
            <a:ext cx="77033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REAL-TIME VISUALIZATION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628650"/>
            <a:ext cx="808851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Live Reading Temperature Stream Broadcast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050" y="2886075"/>
            <a:ext cx="509809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Live In-Memory Feed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050" y="3114675"/>
            <a:ext cx="48553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Direct event stream rendered on the Web Dashboard.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050" y="3867150"/>
            <a:ext cx="509809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Dynamic Heat Trends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050" y="4095750"/>
            <a:ext cx="48553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Sub-second temperature plots &amp; MySQL landed feeds.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1FC4046-BD19-4B30-A1E2-0C71D56AB9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3940" y="1757362"/>
            <a:ext cx="6574183" cy="36337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772650" y="419100"/>
            <a:ext cx="1885950" cy="3048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15315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905125"/>
            <a:ext cx="3581400" cy="1352550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05300" y="2995612"/>
            <a:ext cx="35814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77200" y="2905125"/>
            <a:ext cx="3581400" cy="1352550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2475" y="3143250"/>
            <a:ext cx="1257300" cy="247650"/>
          </a:xfrm>
          <a:prstGeom prst="roundRect">
            <a:avLst>
              <a:gd name="adj" fmla="val 23076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4248150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2905125"/>
            <a:ext cx="3581400" cy="285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2905125"/>
            <a:ext cx="9525" cy="1352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05275" y="2905125"/>
            <a:ext cx="9525" cy="1352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24375" y="3233737"/>
            <a:ext cx="1028700" cy="247650"/>
          </a:xfrm>
          <a:prstGeom prst="roundRect">
            <a:avLst>
              <a:gd name="adj" fmla="val 2307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05300" y="4157662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05300" y="2995612"/>
            <a:ext cx="3581400" cy="285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05300" y="2995612"/>
            <a:ext cx="9525" cy="1171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77175" y="2995612"/>
            <a:ext cx="9525" cy="1171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96275" y="3143250"/>
            <a:ext cx="800100" cy="247650"/>
          </a:xfrm>
          <a:prstGeom prst="roundRect">
            <a:avLst>
              <a:gd name="adj" fmla="val 23076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77200" y="4248150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77200" y="2905125"/>
            <a:ext cx="3581400" cy="285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77200" y="2905125"/>
            <a:ext cx="9525" cy="1352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649075" y="2905125"/>
            <a:ext cx="9525" cy="1352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5525" y="504825"/>
            <a:ext cx="152400" cy="1333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134600" y="476250"/>
            <a:ext cx="14859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Plus Jakarta Sans"/>
              </a:rPr>
              <a:t>Port 8050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6276975"/>
            <a:ext cx="177403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SpinWatch IoT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72775" y="6276975"/>
            <a:ext cx="11715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User Interface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419100"/>
            <a:ext cx="6215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SERVING &amp; 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628650"/>
            <a:ext cx="652581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Interactive Telemetry Operations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3181350"/>
            <a:ext cx="1162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91C1C"/>
                </a:solidFill>
                <a:latin typeface="JetBrains Mono"/>
              </a:rPr>
              <a:t>FLEET OVERVIEW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475" y="3448050"/>
            <a:ext cx="412551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Branch Filter Bar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475" y="3676650"/>
            <a:ext cx="3238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Filter by Nyagatare, Kigali, Musanze, &amp; 10 other branches.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9625" y="3271837"/>
            <a:ext cx="933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45309"/>
                </a:solidFill>
                <a:latin typeface="JetBrains Mono"/>
              </a:rPr>
              <a:t>DIAGNOSTICS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4375" y="3538537"/>
            <a:ext cx="412551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Machine Health Cards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4375" y="3767137"/>
            <a:ext cx="3929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Real-time temp vs 70°C threshold indicator.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1525" y="3181350"/>
            <a:ext cx="7048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47857"/>
                </a:solidFill>
                <a:latin typeface="JetBrains Mono"/>
              </a:rPr>
              <a:t>REST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6275" y="3448050"/>
            <a:ext cx="38957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REST API Endpoints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6275" y="3676650"/>
            <a:ext cx="3238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12 REST endpoints with automated Postman validation.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867900" y="419100"/>
            <a:ext cx="1790700" cy="3048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15315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567094" y="2776537"/>
            <a:ext cx="800100" cy="247650"/>
          </a:xfrm>
          <a:prstGeom prst="roundRect">
            <a:avLst>
              <a:gd name="adj" fmla="val 23076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567094" y="3224212"/>
            <a:ext cx="800100" cy="247650"/>
          </a:xfrm>
          <a:prstGeom prst="roundRect">
            <a:avLst>
              <a:gd name="adj" fmla="val 23076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67094" y="3671887"/>
            <a:ext cx="800100" cy="247650"/>
          </a:xfrm>
          <a:prstGeom prst="roundRect">
            <a:avLst>
              <a:gd name="adj" fmla="val 23076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67094" y="4119562"/>
            <a:ext cx="800100" cy="247650"/>
          </a:xfrm>
          <a:prstGeom prst="roundRect">
            <a:avLst>
              <a:gd name="adj" fmla="val 23076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67094" y="4567237"/>
            <a:ext cx="800100" cy="247650"/>
          </a:xfrm>
          <a:prstGeom prst="roundRect">
            <a:avLst>
              <a:gd name="adj" fmla="val 23076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0775" y="504825"/>
            <a:ext cx="133350" cy="13335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33400" y="2252662"/>
          <a:ext cx="11125198" cy="2657475"/>
        </p:xfrm>
        <a:graphic>
          <a:graphicData uri="http://schemas.openxmlformats.org/drawingml/2006/table">
            <a:tbl>
              <a:tblPr/>
              <a:tblGrid>
                <a:gridCol w="2752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8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2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Rubric Requirement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SpinWatch Module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Technical Verification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Inter"/>
                        </a:rPr>
                        <a:t>1. Continuous Ingress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generator.py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3-10 TPS telemetry stream across 1,000 washers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Inter"/>
                        </a:rPr>
                        <a:t>2. Kafka Keyed Streaming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producer.py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Keyed by washer_id across 3 topic partitions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Inter"/>
                        </a:rPr>
                        <a:t>3. Delivery Guarantees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consumer.py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Manual offset commits after database persistence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Inter"/>
                        </a:rPr>
                        <a:t>4. Storage Separation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MySQL / HDFS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Operational MySQL DB isolated from Parquet store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91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Inter"/>
                        </a:rPr>
                        <a:t>5. PySpark ML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train_model.py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LogisticRegression pipeline (0.94 ROC AUC)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210800" y="476250"/>
            <a:ext cx="14097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Plus Jakarta Sans"/>
              </a:rPr>
              <a:t>100% Implemented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276975"/>
            <a:ext cx="177403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SpinWatch IoT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0825" y="6276975"/>
            <a:ext cx="155971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Defense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419100"/>
            <a:ext cx="57983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DEFENSE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628650"/>
            <a:ext cx="608826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System Rubric Verification Matrix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9469" y="2814637"/>
            <a:ext cx="8953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47857"/>
                </a:solidFill>
                <a:latin typeface="JetBrains Mono"/>
              </a:rPr>
              <a:t>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9469" y="3262312"/>
            <a:ext cx="8953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47857"/>
                </a:solidFill>
                <a:latin typeface="JetBrains Mono"/>
              </a:rPr>
              <a:t>VERIFIED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9469" y="3709987"/>
            <a:ext cx="8953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47857"/>
                </a:solidFill>
                <a:latin typeface="JetBrains Mono"/>
              </a:rPr>
              <a:t>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9469" y="4157662"/>
            <a:ext cx="8953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47857"/>
                </a:solidFill>
                <a:latin typeface="JetBrains Mono"/>
              </a:rPr>
              <a:t>VERIFIED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9469" y="4605337"/>
            <a:ext cx="8953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47857"/>
                </a:solidFill>
                <a:latin typeface="JetBrains Mono"/>
              </a:rPr>
              <a:t>VERIFIED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700" y="5934075"/>
            <a:ext cx="10896600" cy="390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201150" y="552450"/>
            <a:ext cx="2343150" cy="266700"/>
          </a:xfrm>
          <a:prstGeom prst="roundRect">
            <a:avLst>
              <a:gd name="adj" fmla="val 21428"/>
            </a:avLst>
          </a:prstGeom>
          <a:solidFill>
            <a:srgbClr val="0F373B"/>
          </a:solidFill>
          <a:ln w="9525">
            <a:solidFill>
              <a:srgbClr val="1A4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381250" y="3709987"/>
            <a:ext cx="7429500" cy="781050"/>
          </a:xfrm>
          <a:prstGeom prst="roundRect">
            <a:avLst>
              <a:gd name="adj" fmla="val 14634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7700" y="5934075"/>
            <a:ext cx="108966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533400"/>
            <a:ext cx="3048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96400" y="590550"/>
            <a:ext cx="22479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4D399"/>
                </a:solidFill>
                <a:latin typeface="JetBrains Mono"/>
              </a:rPr>
              <a:t>Ready for Live Demonstration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357187" y="2281237"/>
            <a:ext cx="12906375" cy="552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450" b="1" i="0" u="none">
                <a:solidFill>
                  <a:srgbClr val="F8FAFC"/>
                </a:solidFill>
                <a:latin typeface="Plus Jakarta Sans"/>
              </a:rPr>
              <a:t>Thank You!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9750" y="2947987"/>
            <a:ext cx="85725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Proactive IoT machine heat monitoring powered by Big Data streaming &amp; PySpark predictive analytics.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6138862"/>
            <a:ext cx="2786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Questions &amp; Defense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44075" y="6134100"/>
            <a:ext cx="225028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7171"/>
                </a:solidFill>
                <a:latin typeface="JetBrains Mono"/>
              </a:rPr>
              <a:t>python run_project.py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542925"/>
            <a:ext cx="1750218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Plus Jakarta Sans"/>
              </a:rPr>
              <a:t>SPINWATCH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8781" y="3890962"/>
            <a:ext cx="88344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EF4444"/>
                </a:solidFill>
                <a:latin typeface="Inter"/>
              </a:rPr>
              <a:t>PRESENTED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8240" y="4119562"/>
            <a:ext cx="31313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1F5F9"/>
                </a:solidFill>
                <a:latin typeface="Inter"/>
              </a:rPr>
              <a:t>Amie Marie Flora Dushimumukiza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2175" y="4119562"/>
            <a:ext cx="3619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6975" y="4119562"/>
            <a:ext cx="13239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1F5F9"/>
                </a:solidFill>
                <a:latin typeface="Inter"/>
              </a:rPr>
              <a:t>Kwizera Rene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119562"/>
            <a:ext cx="3619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8600" y="4119562"/>
            <a:ext cx="11049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1F5F9"/>
                </a:solidFill>
                <a:latin typeface="Inter"/>
              </a:rPr>
              <a:t>Grace Teta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942</Words>
  <Application>Microsoft Office PowerPoint</Application>
  <PresentationFormat>Widescreen</PresentationFormat>
  <Paragraphs>226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Plus Jakarta Sans</vt:lpstr>
      <vt:lpstr>Calibri</vt:lpstr>
      <vt:lpstr>JetBrains Mono</vt:lpstr>
      <vt:lpstr>Inter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2026-09-20T05:49:50Z</dcterms:modified>
  <cp:category/>
</cp:coreProperties>
</file>